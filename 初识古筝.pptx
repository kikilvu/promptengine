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1"/>
  </p:handoutMasterIdLst>
  <p:sldIdLst>
    <p:sldId id="284" r:id="rId3"/>
    <p:sldId id="287" r:id="rId4"/>
    <p:sldId id="296" r:id="rId6"/>
    <p:sldId id="285" r:id="rId7"/>
    <p:sldId id="297" r:id="rId8"/>
    <p:sldId id="291" r:id="rId9"/>
    <p:sldId id="298" r:id="rId10"/>
    <p:sldId id="299" r:id="rId11"/>
    <p:sldId id="300" r:id="rId12"/>
    <p:sldId id="301" r:id="rId13"/>
    <p:sldId id="302" r:id="rId14"/>
    <p:sldId id="303" r:id="rId15"/>
    <p:sldId id="309" r:id="rId16"/>
    <p:sldId id="304" r:id="rId17"/>
    <p:sldId id="306" r:id="rId18"/>
    <p:sldId id="308" r:id="rId19"/>
    <p:sldId id="310" r:id="rId20"/>
  </p:sldIdLst>
  <p:sldSz cx="9144000" cy="5143500"/>
  <p:notesSz cx="6858000" cy="9144000"/>
  <p:custDataLst>
    <p:tags r:id="rId2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14"/>
    <p:restoredTop sz="92543"/>
  </p:normalViewPr>
  <p:slideViewPr>
    <p:cSldViewPr showGuides="1">
      <p:cViewPr>
        <p:scale>
          <a:sx n="142" d="100"/>
          <a:sy n="142" d="100"/>
        </p:scale>
        <p:origin x="320" y="480"/>
      </p:cViewPr>
      <p:guideLst>
        <p:guide orient="horz" pos="16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2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6ED419-5B3F-423C-8358-46E41EBE13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910817"/>
            <a:ext cx="7772400" cy="1102519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069686"/>
            <a:ext cx="6100534" cy="1305742"/>
          </a:xfrm>
        </p:spPr>
        <p:txBody>
          <a:bodyPr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2743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4F9FA20-FC2C-2B45-889B-7BFFD19D31B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p>
            <a:pPr algn="r" eaLnBrk="1" hangingPunct="1"/>
            <a:fld id="{9A0DB2DC-4C9A-4742-B13C-FB6460FD3503}" type="slidenum">
              <a:rPr lang="zh-CN" altLang="en-US">
                <a:latin typeface="Goudy Old Style" panose="02020502050305020303"/>
              </a:rPr>
            </a:fld>
            <a:endParaRPr lang="zh-CN" altLang="en-US">
              <a:latin typeface="Goudy Old Style" panose="02020502050305020303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A3651C-D82B-EE4C-812E-82D8C6CB27C3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07527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982387"/>
            <a:ext cx="7772400" cy="1125140"/>
          </a:xfrm>
        </p:spPr>
        <p:txBody>
          <a:bodyPr anchor="b"/>
          <a:lstStyle>
            <a:lvl1pPr marL="0" indent="0">
              <a:buNone/>
              <a:defRPr lang="zh-CN" altLang="en-US" sz="2100" smtClean="0">
                <a:effectLst/>
              </a:defRPr>
            </a:lvl1pPr>
            <a:lvl2pPr marL="342900" indent="0">
              <a:buNone/>
              <a:defRPr lang="zh-CN" altLang="en-US" sz="1800" smtClean="0">
                <a:effectLst/>
              </a:defRPr>
            </a:lvl2pPr>
            <a:lvl3pPr marL="685800" indent="0">
              <a:buNone/>
              <a:defRPr lang="zh-CN" altLang="en-US" sz="1500" smtClean="0">
                <a:effectLst/>
              </a:defRPr>
            </a:lvl3pPr>
            <a:lvl4pPr marL="1028700" indent="0">
              <a:buNone/>
              <a:defRPr lang="zh-CN" altLang="en-US" sz="1200" smtClean="0">
                <a:effectLst/>
              </a:defRPr>
            </a:lvl4pPr>
            <a:lvl5pPr marL="1371600" indent="0">
              <a:buNone/>
              <a:defRPr lang="zh-CN" altLang="en-US" sz="1050" dirty="0" smtClean="0">
                <a:effectLst/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2743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A3343E-B8A3-EA4D-AE7D-4599E6F6B5A9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p>
            <a:pPr algn="r" eaLnBrk="1" hangingPunct="1"/>
            <a:fld id="{9A0DB2DC-4C9A-4742-B13C-FB6460FD3503}" type="slidenum">
              <a:rPr lang="zh-CN" altLang="en-US">
                <a:latin typeface="Goudy Old Style" panose="02020502050305020303"/>
              </a:rPr>
            </a:fld>
            <a:endParaRPr lang="zh-CN" altLang="en-US">
              <a:latin typeface="Goudy Old Style" panose="02020502050305020303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A3651C-D82B-EE4C-812E-82D8C6CB27C3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A3651C-D82B-EE4C-812E-82D8C6CB27C3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/>
          <a:srcRect t="2206" r="11670" b="21520"/>
          <a:stretch>
            <a:fillRect/>
          </a:stretch>
        </p:blipFill>
        <p:spPr>
          <a:xfrm>
            <a:off x="-397" y="0"/>
            <a:ext cx="9144397" cy="514350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838200" y="251252"/>
            <a:ext cx="15311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古筝的起源</a:t>
            </a:r>
            <a:endParaRPr lang="zh-CN" altLang="en-US" sz="21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44" y="250496"/>
            <a:ext cx="580232" cy="380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fallOver"/>
      </p:transition>
    </mc:Choice>
    <mc:Fallback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/>
          <a:srcRect t="2206" r="11670" b="21520"/>
          <a:stretch>
            <a:fillRect/>
          </a:stretch>
        </p:blipFill>
        <p:spPr>
          <a:xfrm>
            <a:off x="-397" y="0"/>
            <a:ext cx="9144397" cy="514350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838200" y="251252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古筝流派</a:t>
            </a:r>
            <a:endParaRPr lang="zh-CN" altLang="en-US" sz="21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44" y="250496"/>
            <a:ext cx="580232" cy="380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fallOver"/>
      </p:transition>
    </mc:Choice>
    <mc:Fallback>
      <p:transition spd="slow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/>
          <a:srcRect t="2206" r="11670" b="21520"/>
          <a:stretch>
            <a:fillRect/>
          </a:stretch>
        </p:blipFill>
        <p:spPr>
          <a:xfrm>
            <a:off x="-397" y="0"/>
            <a:ext cx="9144397" cy="514350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838200" y="251252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古筝结构与构造</a:t>
            </a:r>
            <a:endParaRPr lang="zh-CN" altLang="en-US" sz="21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44" y="250496"/>
            <a:ext cx="580232" cy="380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fallOver"/>
      </p:transition>
    </mc:Choice>
    <mc:Fallback>
      <p:transition spd="slow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/>
          <a:srcRect t="2206" r="11670" b="21520"/>
          <a:stretch>
            <a:fillRect/>
          </a:stretch>
        </p:blipFill>
        <p:spPr>
          <a:xfrm>
            <a:off x="-397" y="0"/>
            <a:ext cx="9144397" cy="514350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838200" y="251252"/>
            <a:ext cx="23391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指甲古筝演奏姿势</a:t>
            </a:r>
            <a:endParaRPr lang="zh-CN" altLang="en-US" sz="21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44" y="250496"/>
            <a:ext cx="580232" cy="380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fallOver"/>
      </p:transition>
    </mc:Choice>
    <mc:Fallback>
      <p:transition spd="slow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/>
          <a:srcRect t="2206" r="11670" b="21520"/>
          <a:stretch>
            <a:fillRect/>
          </a:stretch>
        </p:blipFill>
        <p:spPr>
          <a:xfrm>
            <a:off x="-397" y="0"/>
            <a:ext cx="9144397" cy="5143500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838200" y="251252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曲目欣赏与介绍</a:t>
            </a:r>
            <a:endParaRPr lang="zh-CN" altLang="en-US" sz="21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44" y="250496"/>
            <a:ext cx="580232" cy="380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fallOver"/>
      </p:transition>
    </mc:Choice>
    <mc:Fallback>
      <p:transition spd="slow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7775575" cy="857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sp3d prstMaterial="matte">
              <a:bevelT w="12700" h="12700"/>
            </a:sp3d>
          </a:bodyPr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A3651C-D82B-EE4C-812E-82D8C6CB27C3}" type="datetimeFigureOut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rtlCol="0" anchor="ctr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45720" tIns="45720" rIns="45720" bIns="45720" numCol="1" anchor="ctr" anchorCtr="0" compatLnSpc="1"/>
          <a:lstStyle>
            <a:lvl1pPr algn="r">
              <a:defRPr sz="900">
                <a:latin typeface="Goudy Old Style" panose="02020502050305020303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/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zh-CN" altLang="en-US" sz="3300" kern="1200" spc="38" dirty="0">
          <a:ln w="12700">
            <a:noFill/>
            <a:prstDash val="solid"/>
          </a:ln>
          <a:solidFill>
            <a:srgbClr val="4BC5B9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rgbClr val="4BC5B9"/>
          </a:solidFill>
          <a:latin typeface="Footlight MT Light" panose="0204060206030A020304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rgbClr val="4BC5B9"/>
          </a:solidFill>
          <a:latin typeface="Footlight MT Light" panose="0204060206030A020304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rgbClr val="4BC5B9"/>
          </a:solidFill>
          <a:latin typeface="Footlight MT Light" panose="0204060206030A020304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rgbClr val="4BC5B9"/>
          </a:solidFill>
          <a:latin typeface="Footlight MT Light" panose="0204060206030A020304"/>
          <a:ea typeface="华文新魏" panose="02010800040101010101" charset="-122"/>
          <a:cs typeface="华文新魏" panose="02010800040101010101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2" charset="2"/>
        <a:buChar char="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2" charset="2"/>
        <a:buChar char="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2" charset="2"/>
        <a:buChar char="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2" charset="2"/>
        <a:buChar char="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2" charset="2"/>
        <a:buChar char="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rtl="0" eaLnBrk="1" latinLnBrk="0" hangingPunct="1">
        <a:spcBef>
          <a:spcPct val="20000"/>
        </a:spcBef>
        <a:buFont typeface="Arial" panose="020B0604020202020204"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rtl="0" eaLnBrk="1" latinLnBrk="0" hangingPunct="1">
        <a:spcBef>
          <a:spcPct val="20000"/>
        </a:spcBef>
        <a:buFont typeface="Arial" panose="020B0604020202020204"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rtl="0" eaLnBrk="1" latinLnBrk="0" hangingPunct="1">
        <a:spcBef>
          <a:spcPct val="20000"/>
        </a:spcBef>
        <a:buFont typeface="Arial" panose="020B0604020202020204"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rtl="0" eaLnBrk="1" latinLnBrk="0" hangingPunct="1">
        <a:spcBef>
          <a:spcPct val="20000"/>
        </a:spcBef>
        <a:buFont typeface="Arial" panose="020B0604020202020204"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microsoft.com/office/2007/relationships/hdphoto" Target="../media/image12.wdp"/><Relationship Id="rId5" Type="http://schemas.openxmlformats.org/officeDocument/2006/relationships/image" Target="../media/image11.pn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microsoft.com/office/2007/relationships/hdphoto" Target="../media/image12.wdp"/><Relationship Id="rId5" Type="http://schemas.openxmlformats.org/officeDocument/2006/relationships/image" Target="../media/image11.pn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8.xml"/><Relationship Id="rId2" Type="http://schemas.microsoft.com/office/2007/relationships/hdphoto" Target="../media/image16.wdp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microsoft.com/office/2007/relationships/hdphoto" Target="../media/image12.wdp"/><Relationship Id="rId5" Type="http://schemas.openxmlformats.org/officeDocument/2006/relationships/image" Target="../media/image11.pn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microsoft.com/office/2007/relationships/hdphoto" Target="../media/image12.wdp"/><Relationship Id="rId5" Type="http://schemas.openxmlformats.org/officeDocument/2006/relationships/image" Target="../media/image11.png"/><Relationship Id="rId4" Type="http://schemas.microsoft.com/office/2007/relationships/hdphoto" Target="../media/image10.wdp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29" name="图片 8"/>
          <p:cNvPicPr>
            <a:picLocks noChangeAspect="1"/>
          </p:cNvPicPr>
          <p:nvPr/>
        </p:nvPicPr>
        <p:blipFill>
          <a:blip r:embed="rId1"/>
          <a:srcRect l="920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0" name="文本框 6"/>
          <p:cNvSpPr txBox="1"/>
          <p:nvPr/>
        </p:nvSpPr>
        <p:spPr>
          <a:xfrm>
            <a:off x="1188085" y="915670"/>
            <a:ext cx="4364355" cy="3630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zh-CN" altLang="en-US" sz="11500">
                <a:solidFill>
                  <a:srgbClr val="6A4609"/>
                </a:solidFill>
                <a:latin typeface="Consolas" panose="020B0609020204030204" charset="0"/>
                <a:ea typeface="Consolas" panose="020B0609020204030204" charset="0"/>
              </a:rPr>
              <a:t>初</a:t>
            </a:r>
            <a:r>
              <a:rPr lang="zh-CN" altLang="en-US" sz="11500">
                <a:solidFill>
                  <a:srgbClr val="6A4609"/>
                </a:solidFill>
                <a:latin typeface="Consolas" panose="020B0609020204030204" charset="0"/>
                <a:ea typeface="Consolas" panose="020B0609020204030204" charset="0"/>
              </a:rPr>
              <a:t>识古筝</a:t>
            </a:r>
            <a:endParaRPr lang="zh-CN" altLang="en-US" sz="11500">
              <a:solidFill>
                <a:srgbClr val="6A4609"/>
              </a:solidFill>
              <a:latin typeface="Consolas" panose="020B0609020204030204" charset="0"/>
              <a:ea typeface="Consolas" panose="020B0609020204030204" charset="0"/>
            </a:endParaRPr>
          </a:p>
        </p:txBody>
      </p:sp>
      <p:sp>
        <p:nvSpPr>
          <p:cNvPr id="22531" name="文本框 9"/>
          <p:cNvSpPr txBox="1"/>
          <p:nvPr/>
        </p:nvSpPr>
        <p:spPr>
          <a:xfrm>
            <a:off x="468313" y="488950"/>
            <a:ext cx="28797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dist" eaLnBrk="1" hangingPunct="1"/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民族弦鸣乐器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830" y="0"/>
            <a:ext cx="9389745" cy="5195570"/>
          </a:xfrm>
          <a:prstGeom prst="rect">
            <a:avLst/>
          </a:prstGeom>
        </p:spPr>
      </p:pic>
      <p:grpSp>
        <p:nvGrpSpPr>
          <p:cNvPr id="10" name="组合 9"/>
          <p:cNvGrpSpPr/>
          <p:nvPr>
            <p:custDataLst>
              <p:tags r:id="rId2"/>
            </p:custDataLst>
          </p:nvPr>
        </p:nvGrpSpPr>
        <p:grpSpPr>
          <a:xfrm>
            <a:off x="4353423" y="802623"/>
            <a:ext cx="4179390" cy="486054"/>
            <a:chOff x="4353423" y="815693"/>
            <a:chExt cx="4179390" cy="486054"/>
          </a:xfrm>
          <a:solidFill>
            <a:schemeClr val="bg1">
              <a:lumMod val="85000"/>
            </a:schemeClr>
          </a:solidFill>
        </p:grpSpPr>
        <p:sp>
          <p:nvSpPr>
            <p:cNvPr id="11" name="圆角矩形 10"/>
            <p:cNvSpPr/>
            <p:nvPr>
              <p:custDataLst>
                <p:tags r:id="rId3"/>
              </p:custDataLst>
            </p:nvPr>
          </p:nvSpPr>
          <p:spPr>
            <a:xfrm>
              <a:off x="4353423" y="815693"/>
              <a:ext cx="4179390" cy="486054"/>
            </a:xfrm>
            <a:prstGeom prst="roundRect">
              <a:avLst>
                <a:gd name="adj" fmla="val 50000"/>
              </a:avLst>
            </a:prstGeom>
            <a:grpFill/>
            <a:ln w="9525">
              <a:noFill/>
            </a:ln>
            <a:effectLst>
              <a:innerShdw blurRad="508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文本框 9"/>
            <p:cNvSpPr txBox="1"/>
            <p:nvPr>
              <p:custDataLst>
                <p:tags r:id="rId4"/>
              </p:custDataLst>
            </p:nvPr>
          </p:nvSpPr>
          <p:spPr>
            <a:xfrm>
              <a:off x="4788024" y="894252"/>
              <a:ext cx="3095971" cy="327660"/>
            </a:xfrm>
            <a:prstGeom prst="rect">
              <a:avLst/>
            </a:prstGeom>
            <a:grpFill/>
          </p:spPr>
          <p:txBody>
            <a:bodyPr wrap="square" lIns="51435" tIns="25718" rIns="51435" bIns="25718" rtlCol="0">
              <a:spAutoFit/>
            </a:bodyPr>
            <a:lstStyle/>
            <a:p>
              <a:pPr marL="0" lvl="1"/>
              <a:r>
                <a:rPr lang="zh-CN" altLang="en-US" dirty="0">
                  <a:solidFill>
                    <a:srgbClr val="20202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一、古筝的起源</a:t>
              </a:r>
              <a:endParaRPr lang="zh-CN" altLang="en-US" dirty="0">
                <a:solidFill>
                  <a:schemeClr val="bg1"/>
                </a:solidFill>
                <a:latin typeface="Impact MT Std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5"/>
            </p:custDataLst>
          </p:nvPr>
        </p:nvGrpSpPr>
        <p:grpSpPr>
          <a:xfrm>
            <a:off x="4353423" y="1820023"/>
            <a:ext cx="4179390" cy="486054"/>
            <a:chOff x="4353423" y="1572208"/>
            <a:chExt cx="4179390" cy="486054"/>
          </a:xfrm>
          <a:solidFill>
            <a:schemeClr val="bg1">
              <a:lumMod val="85000"/>
            </a:schemeClr>
          </a:solidFill>
        </p:grpSpPr>
        <p:sp>
          <p:nvSpPr>
            <p:cNvPr id="22" name="圆角矩形 21"/>
            <p:cNvSpPr/>
            <p:nvPr>
              <p:custDataLst>
                <p:tags r:id="rId6"/>
              </p:custDataLst>
            </p:nvPr>
          </p:nvSpPr>
          <p:spPr>
            <a:xfrm>
              <a:off x="4353423" y="1572208"/>
              <a:ext cx="4179390" cy="486054"/>
            </a:xfrm>
            <a:prstGeom prst="roundRect">
              <a:avLst>
                <a:gd name="adj" fmla="val 50000"/>
              </a:avLst>
            </a:prstGeom>
            <a:grpFill/>
            <a:ln w="9525">
              <a:noFill/>
            </a:ln>
            <a:effectLst>
              <a:innerShdw blurRad="508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9"/>
            <p:cNvSpPr txBox="1"/>
            <p:nvPr>
              <p:custDataLst>
                <p:tags r:id="rId7"/>
              </p:custDataLst>
            </p:nvPr>
          </p:nvSpPr>
          <p:spPr>
            <a:xfrm>
              <a:off x="4788024" y="1650767"/>
              <a:ext cx="3095971" cy="327660"/>
            </a:xfrm>
            <a:prstGeom prst="rect">
              <a:avLst/>
            </a:prstGeom>
            <a:grpFill/>
          </p:spPr>
          <p:txBody>
            <a:bodyPr wrap="square" lIns="51435" tIns="25718" rIns="51435" bIns="25718" rtlCol="0">
              <a:spAutoFit/>
            </a:bodyPr>
            <a:lstStyle/>
            <a:p>
              <a:pPr marL="0" lvl="1"/>
              <a:r>
                <a:rPr lang="zh-CN" altLang="en-US" dirty="0">
                  <a:solidFill>
                    <a:srgbClr val="20202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二、古筝流派</a:t>
              </a:r>
              <a:endParaRPr lang="zh-CN" altLang="en-US" dirty="0">
                <a:solidFill>
                  <a:schemeClr val="bg1"/>
                </a:solidFill>
                <a:latin typeface="Impact MT Std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8"/>
            </p:custDataLst>
          </p:nvPr>
        </p:nvGrpSpPr>
        <p:grpSpPr>
          <a:xfrm>
            <a:off x="4353423" y="2837423"/>
            <a:ext cx="4179390" cy="486054"/>
            <a:chOff x="4353423" y="2328723"/>
            <a:chExt cx="4179390" cy="486054"/>
          </a:xfrm>
          <a:solidFill>
            <a:schemeClr val="bg1">
              <a:lumMod val="85000"/>
            </a:schemeClr>
          </a:solidFill>
        </p:grpSpPr>
        <p:sp>
          <p:nvSpPr>
            <p:cNvPr id="25" name="圆角矩形 24"/>
            <p:cNvSpPr/>
            <p:nvPr>
              <p:custDataLst>
                <p:tags r:id="rId9"/>
              </p:custDataLst>
            </p:nvPr>
          </p:nvSpPr>
          <p:spPr>
            <a:xfrm>
              <a:off x="4353423" y="2328723"/>
              <a:ext cx="4179390" cy="486054"/>
            </a:xfrm>
            <a:prstGeom prst="roundRect">
              <a:avLst>
                <a:gd name="adj" fmla="val 50000"/>
              </a:avLst>
            </a:prstGeom>
            <a:grpFill/>
            <a:ln w="9525">
              <a:noFill/>
            </a:ln>
            <a:effectLst>
              <a:innerShdw blurRad="508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9"/>
            <p:cNvSpPr txBox="1"/>
            <p:nvPr>
              <p:custDataLst>
                <p:tags r:id="rId10"/>
              </p:custDataLst>
            </p:nvPr>
          </p:nvSpPr>
          <p:spPr>
            <a:xfrm>
              <a:off x="4788024" y="2407282"/>
              <a:ext cx="3095971" cy="327660"/>
            </a:xfrm>
            <a:prstGeom prst="rect">
              <a:avLst/>
            </a:prstGeom>
            <a:grpFill/>
          </p:spPr>
          <p:txBody>
            <a:bodyPr wrap="square" lIns="51435" tIns="25718" rIns="51435" bIns="25718" rtlCol="0">
              <a:spAutoFit/>
            </a:bodyPr>
            <a:lstStyle/>
            <a:p>
              <a:pPr marL="0" lvl="1"/>
              <a:r>
                <a:rPr lang="zh-CN" altLang="en-US" dirty="0">
                  <a:solidFill>
                    <a:srgbClr val="20202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三、古筝结构与构造</a:t>
              </a:r>
              <a:endParaRPr lang="zh-CN" altLang="en-US" dirty="0">
                <a:solidFill>
                  <a:schemeClr val="bg1"/>
                </a:solidFill>
                <a:latin typeface="Impact MT Std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1"/>
            </p:custDataLst>
          </p:nvPr>
        </p:nvGrpSpPr>
        <p:grpSpPr>
          <a:xfrm>
            <a:off x="4353423" y="3854824"/>
            <a:ext cx="4179390" cy="486054"/>
            <a:chOff x="4353423" y="3085238"/>
            <a:chExt cx="4179390" cy="486054"/>
          </a:xfrm>
          <a:solidFill>
            <a:schemeClr val="bg1">
              <a:lumMod val="85000"/>
            </a:schemeClr>
          </a:solidFill>
        </p:grpSpPr>
        <p:sp>
          <p:nvSpPr>
            <p:cNvPr id="28" name="圆角矩形 27"/>
            <p:cNvSpPr/>
            <p:nvPr>
              <p:custDataLst>
                <p:tags r:id="rId12"/>
              </p:custDataLst>
            </p:nvPr>
          </p:nvSpPr>
          <p:spPr>
            <a:xfrm>
              <a:off x="4353423" y="3085238"/>
              <a:ext cx="4179390" cy="486054"/>
            </a:xfrm>
            <a:prstGeom prst="roundRect">
              <a:avLst>
                <a:gd name="adj" fmla="val 50000"/>
              </a:avLst>
            </a:prstGeom>
            <a:grpFill/>
            <a:ln w="9525">
              <a:noFill/>
            </a:ln>
            <a:effectLst>
              <a:innerShdw blurRad="50800" dist="127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9"/>
            <p:cNvSpPr txBox="1"/>
            <p:nvPr>
              <p:custDataLst>
                <p:tags r:id="rId13"/>
              </p:custDataLst>
            </p:nvPr>
          </p:nvSpPr>
          <p:spPr>
            <a:xfrm>
              <a:off x="4788024" y="3163797"/>
              <a:ext cx="3095971" cy="327660"/>
            </a:xfrm>
            <a:prstGeom prst="rect">
              <a:avLst/>
            </a:prstGeom>
            <a:grpFill/>
          </p:spPr>
          <p:txBody>
            <a:bodyPr wrap="square" lIns="51435" tIns="25718" rIns="51435" bIns="25718" rtlCol="0">
              <a:spAutoFit/>
            </a:bodyPr>
            <a:lstStyle/>
            <a:p>
              <a:pPr marL="0" lvl="1"/>
              <a:r>
                <a:rPr lang="zh-CN" altLang="en-US" dirty="0">
                  <a:solidFill>
                    <a:srgbClr val="20202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四、古筝指甲</a:t>
              </a:r>
              <a:r>
                <a:rPr lang="zh-CN" altLang="en-US" dirty="0">
                  <a:solidFill>
                    <a:srgbClr val="20202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与演奏姿势</a:t>
              </a:r>
              <a:endParaRPr lang="zh-CN" altLang="en-US" dirty="0">
                <a:solidFill>
                  <a:schemeClr val="bg1"/>
                </a:solidFill>
                <a:latin typeface="Impact MT Std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1025307" y="1950425"/>
            <a:ext cx="1764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tx1"/>
                </a:solidFill>
                <a:latin typeface="+mn-ea"/>
                <a:cs typeface="+mn-ea"/>
                <a:sym typeface="+mn-lt"/>
              </a:rPr>
              <a:t>目 录</a:t>
            </a:r>
            <a:endParaRPr lang="zh-CN" altLang="en-US" sz="4000" dirty="0">
              <a:solidFill>
                <a:schemeClr val="tx1"/>
              </a:solidFill>
              <a:latin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蓝色的地毯&#10;&#10;中度可信度描述已自动生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16200000">
            <a:off x="2000250" y="-2000250"/>
            <a:ext cx="5143500" cy="9144000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318014" y="-63103"/>
            <a:ext cx="4283039" cy="56911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12047" y="2139633"/>
            <a:ext cx="5551251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600" dirty="0">
                <a:solidFill>
                  <a:schemeClr val="bg1"/>
                </a:solidFill>
                <a:latin typeface="汉仪新蒂语文体" panose="02000600000000000000" pitchFamily="2" charset="-122"/>
                <a:ea typeface="汉仪新蒂语文体" panose="02000600000000000000" pitchFamily="2" charset="-122"/>
              </a:rPr>
              <a:t>古筝的起源</a:t>
            </a:r>
            <a:endParaRPr lang="zh-CN" altLang="en-US" sz="6600" dirty="0">
              <a:solidFill>
                <a:schemeClr val="bg1"/>
              </a:solidFill>
              <a:latin typeface="汉仪新蒂语文体" panose="02000600000000000000" pitchFamily="2" charset="-122"/>
              <a:ea typeface="汉仪新蒂语文体" panose="02000600000000000000" pitchFamily="2" charset="-122"/>
            </a:endParaRPr>
          </a:p>
        </p:txBody>
      </p:sp>
      <p:pic>
        <p:nvPicPr>
          <p:cNvPr id="12" name="图片 11" descr="卡通人物&#10;&#10;中度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295596" y="740036"/>
            <a:ext cx="1697915" cy="1023938"/>
          </a:xfrm>
          <a:custGeom>
            <a:avLst/>
            <a:gdLst>
              <a:gd name="connsiteX0" fmla="*/ 2076450 w 2263887"/>
              <a:gd name="connsiteY0" fmla="*/ 0 h 1365250"/>
              <a:gd name="connsiteX1" fmla="*/ 2263887 w 2263887"/>
              <a:gd name="connsiteY1" fmla="*/ 295953 h 1365250"/>
              <a:gd name="connsiteX2" fmla="*/ 2263887 w 2263887"/>
              <a:gd name="connsiteY2" fmla="*/ 697084 h 1365250"/>
              <a:gd name="connsiteX3" fmla="*/ 1758950 w 2263887"/>
              <a:gd name="connsiteY3" fmla="*/ 1060450 h 1365250"/>
              <a:gd name="connsiteX4" fmla="*/ 1587500 w 2263887"/>
              <a:gd name="connsiteY4" fmla="*/ 1155700 h 1365250"/>
              <a:gd name="connsiteX5" fmla="*/ 190500 w 2263887"/>
              <a:gd name="connsiteY5" fmla="*/ 1365250 h 1365250"/>
              <a:gd name="connsiteX6" fmla="*/ 0 w 2263887"/>
              <a:gd name="connsiteY6" fmla="*/ 768350 h 1365250"/>
              <a:gd name="connsiteX7" fmla="*/ 323850 w 2263887"/>
              <a:gd name="connsiteY7" fmla="*/ 508000 h 1365250"/>
              <a:gd name="connsiteX8" fmla="*/ 730250 w 2263887"/>
              <a:gd name="connsiteY8" fmla="*/ 139700 h 136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3887" h="1365250">
                <a:moveTo>
                  <a:pt x="2076450" y="0"/>
                </a:moveTo>
                <a:lnTo>
                  <a:pt x="2263887" y="295953"/>
                </a:lnTo>
                <a:lnTo>
                  <a:pt x="2263887" y="697084"/>
                </a:lnTo>
                <a:lnTo>
                  <a:pt x="1758950" y="1060450"/>
                </a:lnTo>
                <a:lnTo>
                  <a:pt x="1587500" y="1155700"/>
                </a:lnTo>
                <a:lnTo>
                  <a:pt x="190500" y="1365250"/>
                </a:lnTo>
                <a:lnTo>
                  <a:pt x="0" y="768350"/>
                </a:lnTo>
                <a:lnTo>
                  <a:pt x="323850" y="508000"/>
                </a:lnTo>
                <a:lnTo>
                  <a:pt x="730250" y="139700"/>
                </a:lnTo>
                <a:close/>
              </a:path>
            </a:pathLst>
          </a:custGeom>
          <a:effectLst>
            <a:outerShdw blurRad="165100" algn="ctr" rotWithShape="0">
              <a:schemeClr val="bg1">
                <a:lumMod val="65000"/>
                <a:alpha val="40000"/>
              </a:schemeClr>
            </a:outerShdw>
          </a:effectLst>
        </p:spPr>
      </p:pic>
      <p:pic>
        <p:nvPicPr>
          <p:cNvPr id="20" name="图片 19" descr="卡通人物&#10;&#10;中度可信度描述已自动生成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080780" y="3990571"/>
            <a:ext cx="1645444" cy="361950"/>
          </a:xfrm>
          <a:custGeom>
            <a:avLst/>
            <a:gdLst>
              <a:gd name="connsiteX0" fmla="*/ 482600 w 2193925"/>
              <a:gd name="connsiteY0" fmla="*/ 0 h 482600"/>
              <a:gd name="connsiteX1" fmla="*/ 1562100 w 2193925"/>
              <a:gd name="connsiteY1" fmla="*/ 12700 h 482600"/>
              <a:gd name="connsiteX2" fmla="*/ 2193925 w 2193925"/>
              <a:gd name="connsiteY2" fmla="*/ 93935 h 482600"/>
              <a:gd name="connsiteX3" fmla="*/ 2193925 w 2193925"/>
              <a:gd name="connsiteY3" fmla="*/ 346160 h 482600"/>
              <a:gd name="connsiteX4" fmla="*/ 2178050 w 2193925"/>
              <a:gd name="connsiteY4" fmla="*/ 361950 h 482600"/>
              <a:gd name="connsiteX5" fmla="*/ 1530350 w 2193925"/>
              <a:gd name="connsiteY5" fmla="*/ 482600 h 482600"/>
              <a:gd name="connsiteX6" fmla="*/ 203200 w 2193925"/>
              <a:gd name="connsiteY6" fmla="*/ 438150 h 482600"/>
              <a:gd name="connsiteX7" fmla="*/ 19050 w 2193925"/>
              <a:gd name="connsiteY7" fmla="*/ 285750 h 482600"/>
              <a:gd name="connsiteX8" fmla="*/ 0 w 2193925"/>
              <a:gd name="connsiteY8" fmla="*/ 508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3925" h="482600">
                <a:moveTo>
                  <a:pt x="482600" y="0"/>
                </a:moveTo>
                <a:lnTo>
                  <a:pt x="1562100" y="12700"/>
                </a:lnTo>
                <a:lnTo>
                  <a:pt x="2193925" y="93935"/>
                </a:lnTo>
                <a:lnTo>
                  <a:pt x="2193925" y="346160"/>
                </a:lnTo>
                <a:lnTo>
                  <a:pt x="2178050" y="361950"/>
                </a:lnTo>
                <a:lnTo>
                  <a:pt x="1530350" y="482600"/>
                </a:lnTo>
                <a:lnTo>
                  <a:pt x="203200" y="438150"/>
                </a:lnTo>
                <a:lnTo>
                  <a:pt x="19050" y="285750"/>
                </a:lnTo>
                <a:lnTo>
                  <a:pt x="0" y="50800"/>
                </a:lnTo>
                <a:close/>
              </a:path>
            </a:pathLst>
          </a:custGeom>
          <a:effectLst>
            <a:outerShdw blurRad="165100" algn="ctr" rotWithShape="0">
              <a:schemeClr val="bg1">
                <a:lumMod val="65000"/>
                <a:alpha val="40000"/>
              </a:scheme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323952" y="1460500"/>
            <a:ext cx="1963953" cy="3184525"/>
            <a:chOff x="6878079" y="1427661"/>
            <a:chExt cx="4105656" cy="5775417"/>
          </a:xfrm>
          <a:noFill/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8079" y="1427661"/>
              <a:ext cx="4105656" cy="4793791"/>
            </a:xfrm>
            <a:prstGeom prst="rect">
              <a:avLst/>
            </a:prstGeom>
            <a:grpFill/>
          </p:spPr>
        </p:pic>
        <p:sp>
          <p:nvSpPr>
            <p:cNvPr id="5" name="TextBox 2"/>
            <p:cNvSpPr txBox="1"/>
            <p:nvPr/>
          </p:nvSpPr>
          <p:spPr>
            <a:xfrm>
              <a:off x="7070350" y="2863756"/>
              <a:ext cx="3170350" cy="4339322"/>
            </a:xfrm>
            <a:prstGeom prst="rect">
              <a:avLst/>
            </a:prstGeom>
            <a:grpFill/>
          </p:spPr>
          <p:txBody>
            <a:bodyPr vert="eaVert" wrap="square" rtlCol="0">
              <a:no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  <a:latin typeface="迷你简雪君" panose="02010604000101010101" pitchFamily="2" charset="-122"/>
                  <a:ea typeface="迷你简雪君" panose="02010604000101010101" pitchFamily="2" charset="-122"/>
                  <a:cs typeface="+mn-ea"/>
                  <a:sym typeface="+mn-lt"/>
                </a:rPr>
                <a:t>一</a:t>
              </a:r>
              <a:endParaRPr lang="zh-CN" altLang="en-US" sz="6600" b="1" dirty="0">
                <a:solidFill>
                  <a:schemeClr val="bg1"/>
                </a:solidFill>
                <a:latin typeface="迷你简雪君" panose="02010604000101010101" pitchFamily="2" charset="-122"/>
                <a:ea typeface="迷你简雪君" panose="0201060400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5"/>
          <p:cNvSpPr txBox="1"/>
          <p:nvPr/>
        </p:nvSpPr>
        <p:spPr>
          <a:xfrm>
            <a:off x="1143000" y="3216354"/>
            <a:ext cx="746760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Bef>
                <a:spcPct val="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华文行楷" panose="02010800040101010101" pitchFamily="2" charset="-122"/>
                <a:sym typeface="+mn-ea"/>
              </a:rPr>
              <a:t>古筝是一种古老的民族乐器，是汉乐器的一种，战国时期盛行于“秦”地。</a:t>
            </a:r>
            <a:endParaRPr lang="en-US" altLang="zh-CN" sz="16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华文行楷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华文行楷" panose="02010800040101010101" pitchFamily="2" charset="-122"/>
                <a:sym typeface="+mn-ea"/>
              </a:rPr>
              <a:t>筝乃“真秦之声也”，故而历来就有“秦筝”之名。</a:t>
            </a:r>
            <a:endParaRPr lang="en-US" altLang="zh-CN" sz="16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华文行楷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华文行楷" panose="02010800040101010101" pitchFamily="2" charset="-122"/>
                <a:sym typeface="+mn-ea"/>
              </a:rPr>
              <a:t>关于筝的命名有两种说法，一说乃是有瑟分劈而来，另一说乃是因发音铮铮得名。</a:t>
            </a:r>
            <a:endParaRPr lang="zh-CN" altLang="en-US" sz="16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华文行楷" panose="02010800040101010101" pitchFamily="2" charset="-122"/>
              <a:sym typeface="+mn-ea"/>
            </a:endParaRPr>
          </a:p>
        </p:txBody>
      </p:sp>
      <p:cxnSp>
        <p:nvCxnSpPr>
          <p:cNvPr id="11" name="Straight Connector 20"/>
          <p:cNvCxnSpPr/>
          <p:nvPr/>
        </p:nvCxnSpPr>
        <p:spPr>
          <a:xfrm>
            <a:off x="1225280" y="3028950"/>
            <a:ext cx="705664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47"/>
          <p:cNvSpPr>
            <a:spLocks noChangeArrowheads="1"/>
          </p:cNvSpPr>
          <p:nvPr/>
        </p:nvSpPr>
        <p:spPr bwMode="auto">
          <a:xfrm>
            <a:off x="1122039" y="1352550"/>
            <a:ext cx="5202561" cy="1546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古筝又名汉筝、秦筝、瑶筝、鸾筝，是中国汉民族传统乐器中的筝乐器，属于弹拨乐器。它是中国独特的、重要的民族乐器之一。它的音色优美，音域宽广、演奏技巧丰富，具有相当强的表现力，因此它深受广大人民群众的喜爱。</a:t>
            </a:r>
            <a:endParaRPr lang="zh-CN" altLang="en-US" sz="16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36" y="1352550"/>
            <a:ext cx="2368464" cy="1554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蓝色的地毯&#10;&#10;中度可信度描述已自动生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16200000">
            <a:off x="2000250" y="-2000250"/>
            <a:ext cx="5143500" cy="9144000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318014" y="-63103"/>
            <a:ext cx="4283039" cy="56911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12047" y="2139633"/>
            <a:ext cx="5551251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600" dirty="0">
                <a:solidFill>
                  <a:schemeClr val="bg1"/>
                </a:solidFill>
                <a:latin typeface="汉仪新蒂语文体" panose="02000600000000000000" pitchFamily="2" charset="-122"/>
                <a:ea typeface="汉仪新蒂语文体" panose="02000600000000000000" pitchFamily="2" charset="-122"/>
              </a:rPr>
              <a:t>古筝</a:t>
            </a:r>
            <a:r>
              <a:rPr lang="zh-CN" altLang="en-US" sz="6600" dirty="0">
                <a:solidFill>
                  <a:schemeClr val="bg1"/>
                </a:solidFill>
                <a:latin typeface="汉仪新蒂语文体" panose="02000600000000000000" pitchFamily="2" charset="-122"/>
                <a:ea typeface="汉仪新蒂语文体" panose="02000600000000000000" pitchFamily="2" charset="-122"/>
              </a:rPr>
              <a:t>流派</a:t>
            </a:r>
            <a:endParaRPr lang="zh-CN" altLang="en-US" sz="6600" dirty="0">
              <a:solidFill>
                <a:schemeClr val="bg1"/>
              </a:solidFill>
              <a:latin typeface="汉仪新蒂语文体" panose="02000600000000000000" pitchFamily="2" charset="-122"/>
              <a:ea typeface="汉仪新蒂语文体" panose="02000600000000000000" pitchFamily="2" charset="-122"/>
            </a:endParaRPr>
          </a:p>
        </p:txBody>
      </p:sp>
      <p:pic>
        <p:nvPicPr>
          <p:cNvPr id="12" name="图片 11" descr="卡通人物&#10;&#10;中度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295596" y="740036"/>
            <a:ext cx="1697915" cy="1023938"/>
          </a:xfrm>
          <a:custGeom>
            <a:avLst/>
            <a:gdLst>
              <a:gd name="connsiteX0" fmla="*/ 2076450 w 2263887"/>
              <a:gd name="connsiteY0" fmla="*/ 0 h 1365250"/>
              <a:gd name="connsiteX1" fmla="*/ 2263887 w 2263887"/>
              <a:gd name="connsiteY1" fmla="*/ 295953 h 1365250"/>
              <a:gd name="connsiteX2" fmla="*/ 2263887 w 2263887"/>
              <a:gd name="connsiteY2" fmla="*/ 697084 h 1365250"/>
              <a:gd name="connsiteX3" fmla="*/ 1758950 w 2263887"/>
              <a:gd name="connsiteY3" fmla="*/ 1060450 h 1365250"/>
              <a:gd name="connsiteX4" fmla="*/ 1587500 w 2263887"/>
              <a:gd name="connsiteY4" fmla="*/ 1155700 h 1365250"/>
              <a:gd name="connsiteX5" fmla="*/ 190500 w 2263887"/>
              <a:gd name="connsiteY5" fmla="*/ 1365250 h 1365250"/>
              <a:gd name="connsiteX6" fmla="*/ 0 w 2263887"/>
              <a:gd name="connsiteY6" fmla="*/ 768350 h 1365250"/>
              <a:gd name="connsiteX7" fmla="*/ 323850 w 2263887"/>
              <a:gd name="connsiteY7" fmla="*/ 508000 h 1365250"/>
              <a:gd name="connsiteX8" fmla="*/ 730250 w 2263887"/>
              <a:gd name="connsiteY8" fmla="*/ 139700 h 136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3887" h="1365250">
                <a:moveTo>
                  <a:pt x="2076450" y="0"/>
                </a:moveTo>
                <a:lnTo>
                  <a:pt x="2263887" y="295953"/>
                </a:lnTo>
                <a:lnTo>
                  <a:pt x="2263887" y="697084"/>
                </a:lnTo>
                <a:lnTo>
                  <a:pt x="1758950" y="1060450"/>
                </a:lnTo>
                <a:lnTo>
                  <a:pt x="1587500" y="1155700"/>
                </a:lnTo>
                <a:lnTo>
                  <a:pt x="190500" y="1365250"/>
                </a:lnTo>
                <a:lnTo>
                  <a:pt x="0" y="768350"/>
                </a:lnTo>
                <a:lnTo>
                  <a:pt x="323850" y="508000"/>
                </a:lnTo>
                <a:lnTo>
                  <a:pt x="730250" y="139700"/>
                </a:lnTo>
                <a:close/>
              </a:path>
            </a:pathLst>
          </a:custGeom>
          <a:effectLst>
            <a:outerShdw blurRad="165100" algn="ctr" rotWithShape="0">
              <a:schemeClr val="bg1">
                <a:lumMod val="65000"/>
                <a:alpha val="40000"/>
              </a:schemeClr>
            </a:outerShdw>
          </a:effectLst>
        </p:spPr>
      </p:pic>
      <p:pic>
        <p:nvPicPr>
          <p:cNvPr id="20" name="图片 19" descr="卡通人物&#10;&#10;中度可信度描述已自动生成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080780" y="3990571"/>
            <a:ext cx="1645444" cy="361950"/>
          </a:xfrm>
          <a:custGeom>
            <a:avLst/>
            <a:gdLst>
              <a:gd name="connsiteX0" fmla="*/ 482600 w 2193925"/>
              <a:gd name="connsiteY0" fmla="*/ 0 h 482600"/>
              <a:gd name="connsiteX1" fmla="*/ 1562100 w 2193925"/>
              <a:gd name="connsiteY1" fmla="*/ 12700 h 482600"/>
              <a:gd name="connsiteX2" fmla="*/ 2193925 w 2193925"/>
              <a:gd name="connsiteY2" fmla="*/ 93935 h 482600"/>
              <a:gd name="connsiteX3" fmla="*/ 2193925 w 2193925"/>
              <a:gd name="connsiteY3" fmla="*/ 346160 h 482600"/>
              <a:gd name="connsiteX4" fmla="*/ 2178050 w 2193925"/>
              <a:gd name="connsiteY4" fmla="*/ 361950 h 482600"/>
              <a:gd name="connsiteX5" fmla="*/ 1530350 w 2193925"/>
              <a:gd name="connsiteY5" fmla="*/ 482600 h 482600"/>
              <a:gd name="connsiteX6" fmla="*/ 203200 w 2193925"/>
              <a:gd name="connsiteY6" fmla="*/ 438150 h 482600"/>
              <a:gd name="connsiteX7" fmla="*/ 19050 w 2193925"/>
              <a:gd name="connsiteY7" fmla="*/ 285750 h 482600"/>
              <a:gd name="connsiteX8" fmla="*/ 0 w 2193925"/>
              <a:gd name="connsiteY8" fmla="*/ 508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3925" h="482600">
                <a:moveTo>
                  <a:pt x="482600" y="0"/>
                </a:moveTo>
                <a:lnTo>
                  <a:pt x="1562100" y="12700"/>
                </a:lnTo>
                <a:lnTo>
                  <a:pt x="2193925" y="93935"/>
                </a:lnTo>
                <a:lnTo>
                  <a:pt x="2193925" y="346160"/>
                </a:lnTo>
                <a:lnTo>
                  <a:pt x="2178050" y="361950"/>
                </a:lnTo>
                <a:lnTo>
                  <a:pt x="1530350" y="482600"/>
                </a:lnTo>
                <a:lnTo>
                  <a:pt x="203200" y="438150"/>
                </a:lnTo>
                <a:lnTo>
                  <a:pt x="19050" y="285750"/>
                </a:lnTo>
                <a:lnTo>
                  <a:pt x="0" y="50800"/>
                </a:lnTo>
                <a:close/>
              </a:path>
            </a:pathLst>
          </a:custGeom>
          <a:effectLst>
            <a:outerShdw blurRad="165100" algn="ctr" rotWithShape="0">
              <a:schemeClr val="bg1">
                <a:lumMod val="65000"/>
                <a:alpha val="40000"/>
              </a:scheme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323952" y="1460500"/>
            <a:ext cx="1963953" cy="3184525"/>
            <a:chOff x="6878079" y="1427661"/>
            <a:chExt cx="4105656" cy="5775417"/>
          </a:xfrm>
          <a:noFill/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8079" y="1427661"/>
              <a:ext cx="4105656" cy="4793791"/>
            </a:xfrm>
            <a:prstGeom prst="rect">
              <a:avLst/>
            </a:prstGeom>
            <a:grpFill/>
          </p:spPr>
        </p:pic>
        <p:sp>
          <p:nvSpPr>
            <p:cNvPr id="5" name="TextBox 2"/>
            <p:cNvSpPr txBox="1"/>
            <p:nvPr/>
          </p:nvSpPr>
          <p:spPr>
            <a:xfrm>
              <a:off x="7070350" y="2863756"/>
              <a:ext cx="3170350" cy="4339322"/>
            </a:xfrm>
            <a:prstGeom prst="rect">
              <a:avLst/>
            </a:prstGeom>
            <a:grpFill/>
          </p:spPr>
          <p:txBody>
            <a:bodyPr vert="eaVert" wrap="square" rtlCol="0">
              <a:no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  <a:latin typeface="迷你简雪君" panose="02010604000101010101" pitchFamily="2" charset="-122"/>
                  <a:ea typeface="迷你简雪君" panose="02010604000101010101" pitchFamily="2" charset="-122"/>
                  <a:cs typeface="+mn-ea"/>
                  <a:sym typeface="+mn-lt"/>
                </a:rPr>
                <a:t>二</a:t>
              </a:r>
              <a:endParaRPr lang="zh-CN" altLang="en-US" sz="6600" b="1" dirty="0">
                <a:solidFill>
                  <a:schemeClr val="bg1"/>
                </a:solidFill>
                <a:latin typeface="迷你简雪君" panose="02010604000101010101" pitchFamily="2" charset="-122"/>
                <a:ea typeface="迷你简雪君" panose="0201060400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7086600" y="4767263"/>
            <a:ext cx="2057400" cy="274637"/>
          </a:xfrm>
        </p:spPr>
        <p:txBody>
          <a:bodyPr/>
          <a:lstStyle/>
          <a:p>
            <a:fld id="{6A0CD6E3-761A-420C-85B9-A420F0E9EFF0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660778" y="1072411"/>
            <a:ext cx="2777594" cy="647344"/>
            <a:chOff x="1062852" y="4983670"/>
            <a:chExt cx="3703458" cy="863125"/>
          </a:xfrm>
        </p:grpSpPr>
        <p:sp>
          <p:nvSpPr>
            <p:cNvPr id="36" name="文本框 35"/>
            <p:cNvSpPr txBox="1"/>
            <p:nvPr/>
          </p:nvSpPr>
          <p:spPr>
            <a:xfrm>
              <a:off x="3083798" y="4983670"/>
              <a:ext cx="168251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26000">
                        <a:srgbClr val="2A0415"/>
                      </a:gs>
                      <a:gs pos="100000">
                        <a:schemeClr val="accent1">
                          <a:lumMod val="75000"/>
                        </a:schemeClr>
                      </a:gs>
                      <a:gs pos="79000">
                        <a:schemeClr val="tx1"/>
                      </a:gs>
                    </a:gsLst>
                    <a:lin ang="18900000" scaled="1"/>
                  </a:gra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defRPr>
              </a:lvl1pPr>
            </a:lstStyle>
            <a:p>
              <a:pPr algn="r"/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陕西秦筝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062852" y="5508240"/>
              <a:ext cx="3703458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05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悲歌激越、委婉柔美；</a:t>
              </a:r>
              <a:endParaRPr lang="zh-CN" altLang="en-US" sz="105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81000" y="2358694"/>
            <a:ext cx="2299778" cy="687349"/>
            <a:chOff x="1699940" y="4983670"/>
            <a:chExt cx="3066370" cy="916465"/>
          </a:xfrm>
        </p:grpSpPr>
        <p:sp>
          <p:nvSpPr>
            <p:cNvPr id="34" name="文本框 33"/>
            <p:cNvSpPr txBox="1"/>
            <p:nvPr/>
          </p:nvSpPr>
          <p:spPr>
            <a:xfrm>
              <a:off x="3442870" y="4983670"/>
              <a:ext cx="132344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26000">
                        <a:srgbClr val="2A0415"/>
                      </a:gs>
                      <a:gs pos="100000">
                        <a:schemeClr val="accent1">
                          <a:lumMod val="75000"/>
                        </a:schemeClr>
                      </a:gs>
                      <a:gs pos="79000">
                        <a:schemeClr val="tx1"/>
                      </a:gs>
                    </a:gsLst>
                    <a:lin ang="18900000" scaled="1"/>
                  </a:gra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defRPr>
              </a:lvl1pPr>
            </a:lstStyle>
            <a:p>
              <a:pPr algn="r"/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山东筝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99940" y="5561580"/>
              <a:ext cx="3066369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05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古朴明快、余韵悠长；</a:t>
              </a:r>
              <a:endParaRPr lang="zh-CN" altLang="en-US" sz="105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38174" y="3644977"/>
            <a:ext cx="2777594" cy="647344"/>
            <a:chOff x="1062852" y="4983670"/>
            <a:chExt cx="3703458" cy="863125"/>
          </a:xfrm>
        </p:grpSpPr>
        <p:sp>
          <p:nvSpPr>
            <p:cNvPr id="32" name="文本框 31"/>
            <p:cNvSpPr txBox="1"/>
            <p:nvPr/>
          </p:nvSpPr>
          <p:spPr>
            <a:xfrm>
              <a:off x="2724726" y="4983670"/>
              <a:ext cx="20415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26000">
                        <a:srgbClr val="2A0415"/>
                      </a:gs>
                      <a:gs pos="100000">
                        <a:schemeClr val="accent1">
                          <a:lumMod val="75000"/>
                        </a:schemeClr>
                      </a:gs>
                      <a:gs pos="79000">
                        <a:schemeClr val="tx1"/>
                      </a:gs>
                    </a:gsLst>
                    <a:lin ang="18900000" scaled="1"/>
                  </a:gra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defRPr>
              </a:lvl1pPr>
            </a:lstStyle>
            <a:p>
              <a:pPr algn="r"/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岭南客家筝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62852" y="5508240"/>
              <a:ext cx="3703458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05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婉转含蓄、清淳幽深；</a:t>
              </a:r>
              <a:endParaRPr lang="zh-CN" altLang="en-US" sz="105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746863" y="1057363"/>
            <a:ext cx="2777594" cy="647344"/>
            <a:chOff x="7660233" y="1308494"/>
            <a:chExt cx="3703458" cy="863125"/>
          </a:xfrm>
        </p:grpSpPr>
        <p:sp>
          <p:nvSpPr>
            <p:cNvPr id="30" name="文本框 29"/>
            <p:cNvSpPr txBox="1"/>
            <p:nvPr/>
          </p:nvSpPr>
          <p:spPr>
            <a:xfrm>
              <a:off x="7660233" y="1308494"/>
              <a:ext cx="132343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400"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26000">
                        <a:srgbClr val="2A0415"/>
                      </a:gs>
                      <a:gs pos="100000">
                        <a:schemeClr val="accent1">
                          <a:lumMod val="75000"/>
                        </a:schemeClr>
                      </a:gs>
                      <a:gs pos="79000">
                        <a:schemeClr val="tx1"/>
                      </a:gs>
                    </a:gsLst>
                    <a:lin ang="18900000" scaled="1"/>
                  </a:gra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defRPr>
              </a:lvl1pPr>
            </a:lstStyle>
            <a:p>
              <a:pPr algn="l"/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河南筝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660233" y="1833064"/>
              <a:ext cx="3703458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豪放流畅、悲喜尤佳；</a:t>
              </a:r>
              <a:endParaRPr lang="zh-CN" altLang="en-US" sz="105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547023" y="2358694"/>
            <a:ext cx="2299777" cy="660679"/>
            <a:chOff x="7660233" y="3023538"/>
            <a:chExt cx="3066369" cy="880905"/>
          </a:xfrm>
        </p:grpSpPr>
        <p:sp>
          <p:nvSpPr>
            <p:cNvPr id="28" name="文本框 27"/>
            <p:cNvSpPr txBox="1"/>
            <p:nvPr/>
          </p:nvSpPr>
          <p:spPr>
            <a:xfrm>
              <a:off x="7660233" y="3023538"/>
              <a:ext cx="132343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26000">
                        <a:srgbClr val="2A0415"/>
                      </a:gs>
                      <a:gs pos="100000">
                        <a:schemeClr val="accent1">
                          <a:lumMod val="75000"/>
                        </a:schemeClr>
                      </a:gs>
                      <a:gs pos="79000">
                        <a:schemeClr val="tx1"/>
                      </a:gs>
                    </a:gsLst>
                    <a:lin ang="18900000" scaled="1"/>
                  </a:gra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defRPr>
              </a:lvl1pPr>
            </a:lstStyle>
            <a:p>
              <a:pPr algn="l"/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浙江筝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660233" y="3565888"/>
              <a:ext cx="3066369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05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华丽清秀、温婉动听；</a:t>
              </a:r>
              <a:endParaRPr lang="zh-CN" altLang="en-US" sz="105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794203" y="3644977"/>
            <a:ext cx="2777594" cy="660679"/>
            <a:chOff x="7660233" y="4738582"/>
            <a:chExt cx="3703458" cy="880905"/>
          </a:xfrm>
        </p:grpSpPr>
        <p:sp>
          <p:nvSpPr>
            <p:cNvPr id="26" name="文本框 25"/>
            <p:cNvSpPr txBox="1"/>
            <p:nvPr/>
          </p:nvSpPr>
          <p:spPr>
            <a:xfrm>
              <a:off x="7660233" y="4738582"/>
              <a:ext cx="20415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26000">
                        <a:srgbClr val="2A0415"/>
                      </a:gs>
                      <a:gs pos="100000">
                        <a:schemeClr val="accent1">
                          <a:lumMod val="75000"/>
                        </a:schemeClr>
                      </a:gs>
                      <a:gs pos="79000">
                        <a:schemeClr val="tx1"/>
                      </a:gs>
                    </a:gsLst>
                    <a:lin ang="18900000" scaled="1"/>
                  </a:gra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defRPr>
              </a:lvl1pPr>
            </a:lstStyle>
            <a:p>
              <a:pPr algn="l"/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广东潮州筝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660233" y="5280932"/>
              <a:ext cx="3703458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清晰细腻、声韵多变。</a:t>
              </a:r>
              <a:endParaRPr lang="zh-CN" altLang="en-US" sz="105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074217" y="1019398"/>
            <a:ext cx="3021783" cy="3145965"/>
            <a:chOff x="3024981" y="1019398"/>
            <a:chExt cx="3021783" cy="314596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9" t="17415" r="18334" b="13346"/>
            <a:stretch>
              <a:fillRect/>
            </a:stretch>
          </p:blipFill>
          <p:spPr>
            <a:xfrm>
              <a:off x="3024981" y="1019398"/>
              <a:ext cx="3021783" cy="3145965"/>
            </a:xfrm>
            <a:prstGeom prst="rect">
              <a:avLst/>
            </a:prstGeom>
          </p:spPr>
        </p:pic>
        <p:sp>
          <p:nvSpPr>
            <p:cNvPr id="50" name="文本框 49"/>
            <p:cNvSpPr txBox="1"/>
            <p:nvPr/>
          </p:nvSpPr>
          <p:spPr>
            <a:xfrm>
              <a:off x="3962400" y="2038350"/>
              <a:ext cx="100540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000"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26000">
                        <a:srgbClr val="2A0415"/>
                      </a:gs>
                      <a:gs pos="100000">
                        <a:schemeClr val="accent1">
                          <a:lumMod val="75000"/>
                        </a:schemeClr>
                      </a:gs>
                      <a:gs pos="79000">
                        <a:schemeClr val="tx1"/>
                      </a:gs>
                    </a:gsLst>
                    <a:lin ang="18900000" scaled="1"/>
                  </a:gra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defRPr>
              </a:lvl1pPr>
            </a:lstStyle>
            <a:p>
              <a:pPr algn="l"/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古筝</a:t>
              </a:r>
              <a:endParaRPr lang="en-US" altLang="zh-CN" sz="32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  <a:p>
              <a:pPr algn="l"/>
              <a:r>
                <a:rPr lang="zh-CN" altLang="en-US" sz="32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流派</a:t>
              </a:r>
              <a:endParaRPr lang="zh-CN" altLang="en-US" sz="32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蓝色的地毯&#10;&#10;中度可信度描述已自动生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16200000">
            <a:off x="2000250" y="-2000250"/>
            <a:ext cx="5143500" cy="9144000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318014" y="-63103"/>
            <a:ext cx="4283039" cy="56911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11730" y="1866900"/>
            <a:ext cx="4767580" cy="2395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6600" dirty="0">
                <a:solidFill>
                  <a:schemeClr val="bg1"/>
                </a:solidFill>
                <a:latin typeface="汉仪新蒂语文体" panose="02000600000000000000" pitchFamily="2" charset="-122"/>
                <a:ea typeface="汉仪新蒂语文体" panose="02000600000000000000" pitchFamily="2" charset="-122"/>
              </a:rPr>
              <a:t>古筝结构与</a:t>
            </a:r>
            <a:r>
              <a:rPr lang="zh-CN" altLang="en-US" sz="6600" dirty="0">
                <a:solidFill>
                  <a:schemeClr val="bg1"/>
                </a:solidFill>
                <a:latin typeface="汉仪新蒂语文体" panose="02000600000000000000" pitchFamily="2" charset="-122"/>
                <a:ea typeface="汉仪新蒂语文体" panose="02000600000000000000" pitchFamily="2" charset="-122"/>
              </a:rPr>
              <a:t>构造</a:t>
            </a:r>
            <a:endParaRPr lang="zh-CN" altLang="en-US" sz="6600" dirty="0">
              <a:solidFill>
                <a:schemeClr val="bg1"/>
              </a:solidFill>
              <a:latin typeface="汉仪新蒂语文体" panose="02000600000000000000" pitchFamily="2" charset="-122"/>
              <a:ea typeface="汉仪新蒂语文体" panose="02000600000000000000" pitchFamily="2" charset="-122"/>
            </a:endParaRPr>
          </a:p>
        </p:txBody>
      </p:sp>
      <p:pic>
        <p:nvPicPr>
          <p:cNvPr id="12" name="图片 11" descr="卡通人物&#10;&#10;中度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295596" y="740036"/>
            <a:ext cx="1697915" cy="1023938"/>
          </a:xfrm>
          <a:custGeom>
            <a:avLst/>
            <a:gdLst>
              <a:gd name="connsiteX0" fmla="*/ 2076450 w 2263887"/>
              <a:gd name="connsiteY0" fmla="*/ 0 h 1365250"/>
              <a:gd name="connsiteX1" fmla="*/ 2263887 w 2263887"/>
              <a:gd name="connsiteY1" fmla="*/ 295953 h 1365250"/>
              <a:gd name="connsiteX2" fmla="*/ 2263887 w 2263887"/>
              <a:gd name="connsiteY2" fmla="*/ 697084 h 1365250"/>
              <a:gd name="connsiteX3" fmla="*/ 1758950 w 2263887"/>
              <a:gd name="connsiteY3" fmla="*/ 1060450 h 1365250"/>
              <a:gd name="connsiteX4" fmla="*/ 1587500 w 2263887"/>
              <a:gd name="connsiteY4" fmla="*/ 1155700 h 1365250"/>
              <a:gd name="connsiteX5" fmla="*/ 190500 w 2263887"/>
              <a:gd name="connsiteY5" fmla="*/ 1365250 h 1365250"/>
              <a:gd name="connsiteX6" fmla="*/ 0 w 2263887"/>
              <a:gd name="connsiteY6" fmla="*/ 768350 h 1365250"/>
              <a:gd name="connsiteX7" fmla="*/ 323850 w 2263887"/>
              <a:gd name="connsiteY7" fmla="*/ 508000 h 1365250"/>
              <a:gd name="connsiteX8" fmla="*/ 730250 w 2263887"/>
              <a:gd name="connsiteY8" fmla="*/ 139700 h 136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3887" h="1365250">
                <a:moveTo>
                  <a:pt x="2076450" y="0"/>
                </a:moveTo>
                <a:lnTo>
                  <a:pt x="2263887" y="295953"/>
                </a:lnTo>
                <a:lnTo>
                  <a:pt x="2263887" y="697084"/>
                </a:lnTo>
                <a:lnTo>
                  <a:pt x="1758950" y="1060450"/>
                </a:lnTo>
                <a:lnTo>
                  <a:pt x="1587500" y="1155700"/>
                </a:lnTo>
                <a:lnTo>
                  <a:pt x="190500" y="1365250"/>
                </a:lnTo>
                <a:lnTo>
                  <a:pt x="0" y="768350"/>
                </a:lnTo>
                <a:lnTo>
                  <a:pt x="323850" y="508000"/>
                </a:lnTo>
                <a:lnTo>
                  <a:pt x="730250" y="139700"/>
                </a:lnTo>
                <a:close/>
              </a:path>
            </a:pathLst>
          </a:custGeom>
          <a:effectLst>
            <a:outerShdw blurRad="165100" algn="ctr" rotWithShape="0">
              <a:schemeClr val="bg1">
                <a:lumMod val="65000"/>
                <a:alpha val="40000"/>
              </a:schemeClr>
            </a:outerShdw>
          </a:effectLst>
        </p:spPr>
      </p:pic>
      <p:pic>
        <p:nvPicPr>
          <p:cNvPr id="20" name="图片 19" descr="卡通人物&#10;&#10;中度可信度描述已自动生成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080780" y="3990571"/>
            <a:ext cx="1645444" cy="361950"/>
          </a:xfrm>
          <a:custGeom>
            <a:avLst/>
            <a:gdLst>
              <a:gd name="connsiteX0" fmla="*/ 482600 w 2193925"/>
              <a:gd name="connsiteY0" fmla="*/ 0 h 482600"/>
              <a:gd name="connsiteX1" fmla="*/ 1562100 w 2193925"/>
              <a:gd name="connsiteY1" fmla="*/ 12700 h 482600"/>
              <a:gd name="connsiteX2" fmla="*/ 2193925 w 2193925"/>
              <a:gd name="connsiteY2" fmla="*/ 93935 h 482600"/>
              <a:gd name="connsiteX3" fmla="*/ 2193925 w 2193925"/>
              <a:gd name="connsiteY3" fmla="*/ 346160 h 482600"/>
              <a:gd name="connsiteX4" fmla="*/ 2178050 w 2193925"/>
              <a:gd name="connsiteY4" fmla="*/ 361950 h 482600"/>
              <a:gd name="connsiteX5" fmla="*/ 1530350 w 2193925"/>
              <a:gd name="connsiteY5" fmla="*/ 482600 h 482600"/>
              <a:gd name="connsiteX6" fmla="*/ 203200 w 2193925"/>
              <a:gd name="connsiteY6" fmla="*/ 438150 h 482600"/>
              <a:gd name="connsiteX7" fmla="*/ 19050 w 2193925"/>
              <a:gd name="connsiteY7" fmla="*/ 285750 h 482600"/>
              <a:gd name="connsiteX8" fmla="*/ 0 w 2193925"/>
              <a:gd name="connsiteY8" fmla="*/ 508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3925" h="482600">
                <a:moveTo>
                  <a:pt x="482600" y="0"/>
                </a:moveTo>
                <a:lnTo>
                  <a:pt x="1562100" y="12700"/>
                </a:lnTo>
                <a:lnTo>
                  <a:pt x="2193925" y="93935"/>
                </a:lnTo>
                <a:lnTo>
                  <a:pt x="2193925" y="346160"/>
                </a:lnTo>
                <a:lnTo>
                  <a:pt x="2178050" y="361950"/>
                </a:lnTo>
                <a:lnTo>
                  <a:pt x="1530350" y="482600"/>
                </a:lnTo>
                <a:lnTo>
                  <a:pt x="203200" y="438150"/>
                </a:lnTo>
                <a:lnTo>
                  <a:pt x="19050" y="285750"/>
                </a:lnTo>
                <a:lnTo>
                  <a:pt x="0" y="50800"/>
                </a:lnTo>
                <a:close/>
              </a:path>
            </a:pathLst>
          </a:custGeom>
          <a:effectLst>
            <a:outerShdw blurRad="165100" algn="ctr" rotWithShape="0">
              <a:schemeClr val="bg1">
                <a:lumMod val="65000"/>
                <a:alpha val="40000"/>
              </a:scheme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323952" y="1460500"/>
            <a:ext cx="1963953" cy="3184525"/>
            <a:chOff x="6878079" y="1427661"/>
            <a:chExt cx="4105656" cy="5775417"/>
          </a:xfrm>
          <a:noFill/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8079" y="1427661"/>
              <a:ext cx="4105656" cy="4793791"/>
            </a:xfrm>
            <a:prstGeom prst="rect">
              <a:avLst/>
            </a:prstGeom>
            <a:grpFill/>
          </p:spPr>
        </p:pic>
        <p:sp>
          <p:nvSpPr>
            <p:cNvPr id="5" name="TextBox 2"/>
            <p:cNvSpPr txBox="1"/>
            <p:nvPr/>
          </p:nvSpPr>
          <p:spPr>
            <a:xfrm>
              <a:off x="7070350" y="2863756"/>
              <a:ext cx="3170350" cy="4339322"/>
            </a:xfrm>
            <a:prstGeom prst="rect">
              <a:avLst/>
            </a:prstGeom>
            <a:grpFill/>
          </p:spPr>
          <p:txBody>
            <a:bodyPr vert="eaVert" wrap="square" rtlCol="0">
              <a:no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  <a:latin typeface="迷你简雪君" panose="02010604000101010101" pitchFamily="2" charset="-122"/>
                  <a:ea typeface="迷你简雪君" panose="02010604000101010101" pitchFamily="2" charset="-122"/>
                  <a:cs typeface="+mn-ea"/>
                  <a:sym typeface="+mn-lt"/>
                </a:rPr>
                <a:t>三</a:t>
              </a:r>
              <a:endParaRPr lang="zh-CN" altLang="en-US" sz="6600" b="1" dirty="0">
                <a:solidFill>
                  <a:schemeClr val="bg1"/>
                </a:solidFill>
                <a:latin typeface="迷你简雪君" panose="02010604000101010101" pitchFamily="2" charset="-122"/>
                <a:ea typeface="迷你简雪君" panose="0201060400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矩形 5"/>
          <p:cNvSpPr/>
          <p:nvPr/>
        </p:nvSpPr>
        <p:spPr>
          <a:xfrm>
            <a:off x="683578" y="842963"/>
            <a:ext cx="7737475" cy="1201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2" panose="05020102010507070707" pitchFamily="2" charset="2"/>
              <a:buChar char="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2" panose="05020102010507070707" pitchFamily="2" charset="2"/>
              <a:buChar char="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2" panose="05020102010507070707" pitchFamily="2" charset="2"/>
              <a:buChar char="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2" panose="05020102010507070707" pitchFamily="2" charset="2"/>
              <a:buChar char="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 2" panose="05020102010507070707" pitchFamily="2" charset="2"/>
              <a:buChar char="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      古筝是古老的民族乐器，结构由面板、筝柱（也称雁柱、筝码）、筝弦、前岳山（前梁）、弦钉、筝盒盖、调音盒、琴尾、后岳山（后果）、边板、出音口、底板、穿弦孔、挂弦孔组成；筝的形制为长方形木质音箱，弦架“筝柱”可以自由移动，一弦一音，按五声音阶排列。</a:t>
            </a:r>
            <a:endParaRPr lang="zh-CN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75360" y="1788795"/>
            <a:ext cx="6868795" cy="3249014"/>
            <a:chOff x="1137861" y="1122839"/>
            <a:chExt cx="10227334" cy="518718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EBF9F9"/>
                </a:clrFrom>
                <a:clrTo>
                  <a:srgbClr val="EBF9F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6147" y="2996952"/>
              <a:ext cx="7429500" cy="1714500"/>
            </a:xfrm>
            <a:prstGeom prst="rect">
              <a:avLst/>
            </a:prstGeom>
          </p:spPr>
        </p:pic>
        <p:cxnSp>
          <p:nvCxnSpPr>
            <p:cNvPr id="6" name="直接连接符 5"/>
            <p:cNvCxnSpPr>
              <a:endCxn id="28" idx="1"/>
            </p:cNvCxnSpPr>
            <p:nvPr/>
          </p:nvCxnSpPr>
          <p:spPr>
            <a:xfrm flipV="1">
              <a:off x="9552384" y="3783571"/>
              <a:ext cx="794082" cy="929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>
              <a:endCxn id="29" idx="2"/>
            </p:cNvCxnSpPr>
            <p:nvPr/>
          </p:nvCxnSpPr>
          <p:spPr>
            <a:xfrm flipV="1">
              <a:off x="9173230" y="2742801"/>
              <a:ext cx="29302" cy="169002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9264353" y="4437112"/>
              <a:ext cx="1" cy="693122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endCxn id="31" idx="1"/>
            </p:cNvCxnSpPr>
            <p:nvPr/>
          </p:nvCxnSpPr>
          <p:spPr>
            <a:xfrm>
              <a:off x="9552384" y="4906574"/>
              <a:ext cx="876707" cy="0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H="1">
              <a:off x="5538408" y="4515966"/>
              <a:ext cx="17533" cy="79253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endCxn id="37" idx="0"/>
            </p:cNvCxnSpPr>
            <p:nvPr/>
          </p:nvCxnSpPr>
          <p:spPr>
            <a:xfrm>
              <a:off x="3215651" y="4005064"/>
              <a:ext cx="0" cy="1118767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 flipV="1">
              <a:off x="3710500" y="2821048"/>
              <a:ext cx="8674" cy="858275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2134853" y="3429000"/>
              <a:ext cx="1021878" cy="0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endCxn id="30" idx="2"/>
            </p:cNvCxnSpPr>
            <p:nvPr/>
          </p:nvCxnSpPr>
          <p:spPr>
            <a:xfrm flipV="1">
              <a:off x="5303884" y="2953385"/>
              <a:ext cx="0" cy="98743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64152" y="3854202"/>
              <a:ext cx="0" cy="1269629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10346466" y="3219649"/>
              <a:ext cx="792088" cy="11283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筝首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703851" y="1122839"/>
              <a:ext cx="997362" cy="162005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前岳山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93377" y="1825428"/>
              <a:ext cx="821071" cy="11283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琴弦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429091" y="4341638"/>
              <a:ext cx="936104" cy="11283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筝足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576338" y="5170319"/>
              <a:ext cx="1373087" cy="11283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前弦孔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964605" y="5181659"/>
              <a:ext cx="1008112" cy="11283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琴码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56931" y="5354985"/>
              <a:ext cx="1152128" cy="63666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边板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927486" y="1599236"/>
              <a:ext cx="1008112" cy="162005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后弦孔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37861" y="3244334"/>
              <a:ext cx="1152128" cy="112836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后岳山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603612" y="5123831"/>
              <a:ext cx="1224136" cy="63666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筝尾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 flipH="1" flipV="1">
              <a:off x="7104112" y="2276872"/>
              <a:ext cx="1" cy="942777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6672064" y="1825428"/>
              <a:ext cx="864096" cy="1128363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面板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827405" y="1059815"/>
            <a:ext cx="6940550" cy="3343434"/>
            <a:chOff x="1289599" y="1816722"/>
            <a:chExt cx="9105998" cy="405325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6" b="47805"/>
            <a:stretch>
              <a:fillRect/>
            </a:stretch>
          </p:blipFill>
          <p:spPr>
            <a:xfrm>
              <a:off x="1289599" y="2498857"/>
              <a:ext cx="9105998" cy="2085602"/>
            </a:xfrm>
            <a:prstGeom prst="rect">
              <a:avLst/>
            </a:prstGeom>
          </p:spPr>
        </p:pic>
        <p:cxnSp>
          <p:nvCxnSpPr>
            <p:cNvPr id="9" name="直接连接符 8"/>
            <p:cNvCxnSpPr/>
            <p:nvPr/>
          </p:nvCxnSpPr>
          <p:spPr>
            <a:xfrm flipV="1">
              <a:off x="6600056" y="2204864"/>
              <a:ext cx="0" cy="824086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>
              <a:endCxn id="14" idx="0"/>
            </p:cNvCxnSpPr>
            <p:nvPr/>
          </p:nvCxnSpPr>
          <p:spPr>
            <a:xfrm>
              <a:off x="5879976" y="3541658"/>
              <a:ext cx="0" cy="147151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279576" y="3861048"/>
              <a:ext cx="0" cy="1152128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9033470" y="3510019"/>
              <a:ext cx="0" cy="1503157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2"/>
            <p:cNvSpPr txBox="1"/>
            <p:nvPr/>
          </p:nvSpPr>
          <p:spPr>
            <a:xfrm>
              <a:off x="6312024" y="1816722"/>
              <a:ext cx="1008112" cy="4834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底板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TextBox 3"/>
            <p:cNvSpPr txBox="1"/>
            <p:nvPr/>
          </p:nvSpPr>
          <p:spPr>
            <a:xfrm>
              <a:off x="8610575" y="4995009"/>
              <a:ext cx="1152128" cy="85680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前音孔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TextBox 5"/>
            <p:cNvSpPr txBox="1"/>
            <p:nvPr/>
          </p:nvSpPr>
          <p:spPr>
            <a:xfrm>
              <a:off x="5375920" y="5013176"/>
              <a:ext cx="1008112" cy="85680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中音孔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6" name="TextBox 6"/>
            <p:cNvSpPr txBox="1"/>
            <p:nvPr/>
          </p:nvSpPr>
          <p:spPr>
            <a:xfrm>
              <a:off x="1847528" y="5013176"/>
              <a:ext cx="1152128" cy="85680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后弦孔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蓝色的地毯&#10;&#10;中度可信度描述已自动生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16200000">
            <a:off x="2000250" y="-2000250"/>
            <a:ext cx="5143500" cy="9144000"/>
          </a:xfrm>
          <a:prstGeom prst="rect">
            <a:avLst/>
          </a:prstGeom>
        </p:spPr>
      </p:pic>
      <p:sp>
        <p:nvSpPr>
          <p:cNvPr id="4" name="矩形: 圆角 3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318014" y="-63103"/>
            <a:ext cx="4283039" cy="56911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11730" y="1866900"/>
            <a:ext cx="4767580" cy="2395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6600" dirty="0">
                <a:solidFill>
                  <a:schemeClr val="bg1"/>
                </a:solidFill>
                <a:latin typeface="汉仪新蒂语文体" panose="02000600000000000000" pitchFamily="2" charset="-122"/>
                <a:ea typeface="汉仪新蒂语文体" panose="02000600000000000000" pitchFamily="2" charset="-122"/>
              </a:rPr>
              <a:t>指甲古筝演奏</a:t>
            </a:r>
            <a:r>
              <a:rPr lang="zh-CN" altLang="en-US" sz="6600" dirty="0">
                <a:solidFill>
                  <a:schemeClr val="bg1"/>
                </a:solidFill>
                <a:latin typeface="汉仪新蒂语文体" panose="02000600000000000000" pitchFamily="2" charset="-122"/>
                <a:ea typeface="汉仪新蒂语文体" panose="02000600000000000000" pitchFamily="2" charset="-122"/>
              </a:rPr>
              <a:t>方式</a:t>
            </a:r>
            <a:endParaRPr lang="zh-CN" altLang="en-US" sz="6600" dirty="0">
              <a:solidFill>
                <a:schemeClr val="bg1"/>
              </a:solidFill>
              <a:latin typeface="汉仪新蒂语文体" panose="02000600000000000000" pitchFamily="2" charset="-122"/>
              <a:ea typeface="汉仪新蒂语文体" panose="02000600000000000000" pitchFamily="2" charset="-122"/>
            </a:endParaRPr>
          </a:p>
        </p:txBody>
      </p:sp>
      <p:pic>
        <p:nvPicPr>
          <p:cNvPr id="12" name="图片 11" descr="卡通人物&#10;&#10;中度可信度描述已自动生成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295596" y="740036"/>
            <a:ext cx="1697915" cy="1023938"/>
          </a:xfrm>
          <a:custGeom>
            <a:avLst/>
            <a:gdLst>
              <a:gd name="connsiteX0" fmla="*/ 2076450 w 2263887"/>
              <a:gd name="connsiteY0" fmla="*/ 0 h 1365250"/>
              <a:gd name="connsiteX1" fmla="*/ 2263887 w 2263887"/>
              <a:gd name="connsiteY1" fmla="*/ 295953 h 1365250"/>
              <a:gd name="connsiteX2" fmla="*/ 2263887 w 2263887"/>
              <a:gd name="connsiteY2" fmla="*/ 697084 h 1365250"/>
              <a:gd name="connsiteX3" fmla="*/ 1758950 w 2263887"/>
              <a:gd name="connsiteY3" fmla="*/ 1060450 h 1365250"/>
              <a:gd name="connsiteX4" fmla="*/ 1587500 w 2263887"/>
              <a:gd name="connsiteY4" fmla="*/ 1155700 h 1365250"/>
              <a:gd name="connsiteX5" fmla="*/ 190500 w 2263887"/>
              <a:gd name="connsiteY5" fmla="*/ 1365250 h 1365250"/>
              <a:gd name="connsiteX6" fmla="*/ 0 w 2263887"/>
              <a:gd name="connsiteY6" fmla="*/ 768350 h 1365250"/>
              <a:gd name="connsiteX7" fmla="*/ 323850 w 2263887"/>
              <a:gd name="connsiteY7" fmla="*/ 508000 h 1365250"/>
              <a:gd name="connsiteX8" fmla="*/ 730250 w 2263887"/>
              <a:gd name="connsiteY8" fmla="*/ 139700 h 136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3887" h="1365250">
                <a:moveTo>
                  <a:pt x="2076450" y="0"/>
                </a:moveTo>
                <a:lnTo>
                  <a:pt x="2263887" y="295953"/>
                </a:lnTo>
                <a:lnTo>
                  <a:pt x="2263887" y="697084"/>
                </a:lnTo>
                <a:lnTo>
                  <a:pt x="1758950" y="1060450"/>
                </a:lnTo>
                <a:lnTo>
                  <a:pt x="1587500" y="1155700"/>
                </a:lnTo>
                <a:lnTo>
                  <a:pt x="190500" y="1365250"/>
                </a:lnTo>
                <a:lnTo>
                  <a:pt x="0" y="768350"/>
                </a:lnTo>
                <a:lnTo>
                  <a:pt x="323850" y="508000"/>
                </a:lnTo>
                <a:lnTo>
                  <a:pt x="730250" y="139700"/>
                </a:lnTo>
                <a:close/>
              </a:path>
            </a:pathLst>
          </a:custGeom>
          <a:effectLst>
            <a:outerShdw blurRad="165100" algn="ctr" rotWithShape="0">
              <a:schemeClr val="bg1">
                <a:lumMod val="65000"/>
                <a:alpha val="40000"/>
              </a:schemeClr>
            </a:outerShdw>
          </a:effectLst>
        </p:spPr>
      </p:pic>
      <p:pic>
        <p:nvPicPr>
          <p:cNvPr id="20" name="图片 19" descr="卡通人物&#10;&#10;中度可信度描述已自动生成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20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080780" y="3990571"/>
            <a:ext cx="1645444" cy="361950"/>
          </a:xfrm>
          <a:custGeom>
            <a:avLst/>
            <a:gdLst>
              <a:gd name="connsiteX0" fmla="*/ 482600 w 2193925"/>
              <a:gd name="connsiteY0" fmla="*/ 0 h 482600"/>
              <a:gd name="connsiteX1" fmla="*/ 1562100 w 2193925"/>
              <a:gd name="connsiteY1" fmla="*/ 12700 h 482600"/>
              <a:gd name="connsiteX2" fmla="*/ 2193925 w 2193925"/>
              <a:gd name="connsiteY2" fmla="*/ 93935 h 482600"/>
              <a:gd name="connsiteX3" fmla="*/ 2193925 w 2193925"/>
              <a:gd name="connsiteY3" fmla="*/ 346160 h 482600"/>
              <a:gd name="connsiteX4" fmla="*/ 2178050 w 2193925"/>
              <a:gd name="connsiteY4" fmla="*/ 361950 h 482600"/>
              <a:gd name="connsiteX5" fmla="*/ 1530350 w 2193925"/>
              <a:gd name="connsiteY5" fmla="*/ 482600 h 482600"/>
              <a:gd name="connsiteX6" fmla="*/ 203200 w 2193925"/>
              <a:gd name="connsiteY6" fmla="*/ 438150 h 482600"/>
              <a:gd name="connsiteX7" fmla="*/ 19050 w 2193925"/>
              <a:gd name="connsiteY7" fmla="*/ 285750 h 482600"/>
              <a:gd name="connsiteX8" fmla="*/ 0 w 2193925"/>
              <a:gd name="connsiteY8" fmla="*/ 50800 h 48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3925" h="482600">
                <a:moveTo>
                  <a:pt x="482600" y="0"/>
                </a:moveTo>
                <a:lnTo>
                  <a:pt x="1562100" y="12700"/>
                </a:lnTo>
                <a:lnTo>
                  <a:pt x="2193925" y="93935"/>
                </a:lnTo>
                <a:lnTo>
                  <a:pt x="2193925" y="346160"/>
                </a:lnTo>
                <a:lnTo>
                  <a:pt x="2178050" y="361950"/>
                </a:lnTo>
                <a:lnTo>
                  <a:pt x="1530350" y="482600"/>
                </a:lnTo>
                <a:lnTo>
                  <a:pt x="203200" y="438150"/>
                </a:lnTo>
                <a:lnTo>
                  <a:pt x="19050" y="285750"/>
                </a:lnTo>
                <a:lnTo>
                  <a:pt x="0" y="50800"/>
                </a:lnTo>
                <a:close/>
              </a:path>
            </a:pathLst>
          </a:custGeom>
          <a:effectLst>
            <a:outerShdw blurRad="165100" algn="ctr" rotWithShape="0">
              <a:schemeClr val="bg1">
                <a:lumMod val="65000"/>
                <a:alpha val="40000"/>
              </a:scheme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323952" y="1460500"/>
            <a:ext cx="1963953" cy="3184525"/>
            <a:chOff x="6878079" y="1427661"/>
            <a:chExt cx="4105656" cy="5775417"/>
          </a:xfrm>
          <a:noFill/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8079" y="1427661"/>
              <a:ext cx="4105656" cy="4793791"/>
            </a:xfrm>
            <a:prstGeom prst="rect">
              <a:avLst/>
            </a:prstGeom>
            <a:grpFill/>
          </p:spPr>
        </p:pic>
        <p:sp>
          <p:nvSpPr>
            <p:cNvPr id="5" name="TextBox 2"/>
            <p:cNvSpPr txBox="1"/>
            <p:nvPr/>
          </p:nvSpPr>
          <p:spPr>
            <a:xfrm>
              <a:off x="7070350" y="2863756"/>
              <a:ext cx="3170350" cy="4339322"/>
            </a:xfrm>
            <a:prstGeom prst="rect">
              <a:avLst/>
            </a:prstGeom>
            <a:grpFill/>
          </p:spPr>
          <p:txBody>
            <a:bodyPr vert="eaVert" wrap="square" rtlCol="0">
              <a:no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  <a:latin typeface="迷你简雪君" panose="02010604000101010101" pitchFamily="2" charset="-122"/>
                  <a:ea typeface="迷你简雪君" panose="02010604000101010101" pitchFamily="2" charset="-122"/>
                  <a:cs typeface="+mn-ea"/>
                  <a:sym typeface="+mn-lt"/>
                </a:rPr>
                <a:t>四</a:t>
              </a:r>
              <a:endParaRPr lang="zh-CN" altLang="en-US" sz="6600" b="1" dirty="0">
                <a:solidFill>
                  <a:schemeClr val="bg1"/>
                </a:solidFill>
                <a:latin typeface="迷你简雪君" panose="02010604000101010101" pitchFamily="2" charset="-122"/>
                <a:ea typeface="迷你简雪君" panose="02010604000101010101" pitchFamily="2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300" y="1203643"/>
            <a:ext cx="51435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755333" y="1059815"/>
            <a:ext cx="7273925" cy="1611313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1800">
                <a:solidFill>
                  <a:schemeClr val="bg1"/>
                </a:solidFill>
              </a:rPr>
              <a:t>弹奏古筝多用假指甲，也称义甲，古代已用，筝以真指甲演奏，称为筝；以假指甲演奏，称为弹筝。据记载，远在晋代就有：“弹筝以骨爪寸余，以代指也”。杜甫诗中也有“银甲弹筝用”的句子。</a:t>
            </a:r>
            <a:endParaRPr lang="zh-CN" altLang="en-US" sz="1800">
              <a:solidFill>
                <a:schemeClr val="bg1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zh-CN" altLang="en-US" sz="1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charRg st="0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charRg st="0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内容占位符 3"/>
          <p:cNvSpPr>
            <a:spLocks noGrp="1"/>
          </p:cNvSpPr>
          <p:nvPr>
            <p:ph sz="half" idx="2"/>
          </p:nvPr>
        </p:nvSpPr>
        <p:spPr>
          <a:xfrm>
            <a:off x="648653" y="987108"/>
            <a:ext cx="7847012" cy="1081087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SzPct val="60000"/>
              <a:buFont typeface="Wingdings 2" panose="05020102010507070707"/>
              <a:buNone/>
            </a:pPr>
            <a:r>
              <a:rPr lang="zh-CN" altLang="en-US" sz="1800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古筝学习中指甲的使用是很重要的，佩戴指甲能使古筝发出清脆明亮的音色。</a:t>
            </a:r>
            <a:endParaRPr lang="zh-CN" altLang="en-US" sz="1800" dirty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  <a:p>
            <a:pPr marL="0" indent="0" eaLnBrk="1" hangingPunct="1">
              <a:buSzPct val="60000"/>
              <a:buFont typeface="Wingdings 2" panose="05020102010507070707"/>
              <a:buNone/>
            </a:pPr>
            <a:r>
              <a:rPr lang="zh-CN" altLang="en-US" sz="1800" dirty="0">
                <a:solidFill>
                  <a:schemeClr val="bg1"/>
                </a:solidFill>
                <a:cs typeface="+mn-ea"/>
                <a:sym typeface="+mn-lt"/>
              </a:rPr>
              <a:t>假甲是分别按大拇指、食指、中指、无名指制作的。形状各不相同，分为成人假甲及儿童假甲。</a:t>
            </a:r>
            <a:endParaRPr lang="zh-CN" altLang="en-US" sz="1800" dirty="0">
              <a:solidFill>
                <a:schemeClr val="bg1"/>
              </a:solidFill>
              <a:cs typeface="+mn-ea"/>
              <a:sym typeface="+mn-lt"/>
            </a:endParaRPr>
          </a:p>
          <a:p>
            <a:pPr marL="0" indent="0" eaLnBrk="1" hangingPunct="1">
              <a:buSzPct val="60000"/>
              <a:buFont typeface="Wingdings 2" panose="05020102010507070707"/>
              <a:buNone/>
            </a:pPr>
            <a:r>
              <a:rPr lang="zh-CN" altLang="en-US" sz="1800" dirty="0">
                <a:solidFill>
                  <a:schemeClr val="bg1"/>
                </a:solidFill>
                <a:cs typeface="+mn-ea"/>
                <a:sym typeface="+mn-lt"/>
              </a:rPr>
              <a:t>我们在弹奏时一般使用玳瑁材质的指甲。这种材质制作的假甲性能较好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。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  <a:p>
            <a:pPr marL="0" indent="0" eaLnBrk="1" hangingPunct="1">
              <a:buSzPct val="60000"/>
              <a:buFont typeface="Wingdings 2" panose="05020102010507070707"/>
              <a:buNone/>
            </a:pPr>
            <a:endParaRPr lang="zh-CN" altLang="en-US" dirty="0">
              <a:solidFill>
                <a:schemeClr val="bg1"/>
              </a:solidFill>
            </a:endParaRPr>
          </a:p>
          <a:p>
            <a:pPr marL="0" indent="0" eaLnBrk="1" hangingPunct="1">
              <a:buSzPct val="60000"/>
              <a:buFont typeface="Wingdings 2" panose="05020102010507070707"/>
              <a:buNone/>
            </a:pPr>
            <a:endParaRPr lang="zh-CN" altLang="en-US" kern="12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67360" y="2787333"/>
            <a:ext cx="2808288" cy="1511300"/>
          </a:xfrm>
          <a:prstGeom prst="roundRect">
            <a:avLst/>
          </a:prstGeom>
          <a:blipFill>
            <a:blip r:embed="rId1"/>
            <a:stretch>
              <a:fillRect/>
            </a:stretch>
          </a:blipFill>
          <a:ln>
            <a:solidFill>
              <a:srgbClr val="A87D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485" y="2571750"/>
            <a:ext cx="4890770" cy="1870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0">
                                            <p:txEl>
                                              <p:charRg st="0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80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1369709" y="1276350"/>
            <a:ext cx="2745091" cy="1261480"/>
            <a:chOff x="4384449" y="3093811"/>
            <a:chExt cx="2289605" cy="1052072"/>
          </a:xfrm>
        </p:grpSpPr>
        <p:sp>
          <p:nvSpPr>
            <p:cNvPr id="12" name="PA_半闭框 7"/>
            <p:cNvSpPr/>
            <p:nvPr>
              <p:custDataLst>
                <p:tags r:id="rId2"/>
              </p:custDataLst>
            </p:nvPr>
          </p:nvSpPr>
          <p:spPr>
            <a:xfrm>
              <a:off x="4384449" y="3093811"/>
              <a:ext cx="232227" cy="232227"/>
            </a:xfrm>
            <a:prstGeom prst="halfFrame">
              <a:avLst>
                <a:gd name="adj1" fmla="val 5860"/>
                <a:gd name="adj2" fmla="val 5860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20" name="PA_半闭框 7"/>
            <p:cNvSpPr/>
            <p:nvPr>
              <p:custDataLst>
                <p:tags r:id="rId3"/>
              </p:custDataLst>
            </p:nvPr>
          </p:nvSpPr>
          <p:spPr>
            <a:xfrm flipH="1" flipV="1">
              <a:off x="6441827" y="3913656"/>
              <a:ext cx="232227" cy="232227"/>
            </a:xfrm>
            <a:prstGeom prst="halfFrame">
              <a:avLst>
                <a:gd name="adj1" fmla="val 5860"/>
                <a:gd name="adj2" fmla="val 5860"/>
              </a:avLst>
            </a:prstGeom>
            <a:solidFill>
              <a:schemeClr val="accent4"/>
            </a:solidFill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4"/>
              </p:custDataLst>
            </p:nvPr>
          </p:nvSpPr>
          <p:spPr>
            <a:xfrm>
              <a:off x="4454880" y="3305579"/>
              <a:ext cx="2138344" cy="723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右手技法指法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（托、抹、勾、打）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5"/>
            </p:custDataLst>
          </p:nvPr>
        </p:nvGrpSpPr>
        <p:grpSpPr>
          <a:xfrm>
            <a:off x="1295400" y="2995030"/>
            <a:ext cx="2745091" cy="1261480"/>
            <a:chOff x="4384449" y="3093811"/>
            <a:chExt cx="2289605" cy="1052072"/>
          </a:xfrm>
        </p:grpSpPr>
        <p:sp>
          <p:nvSpPr>
            <p:cNvPr id="31" name="PA_半闭框 7"/>
            <p:cNvSpPr/>
            <p:nvPr>
              <p:custDataLst>
                <p:tags r:id="rId6"/>
              </p:custDataLst>
            </p:nvPr>
          </p:nvSpPr>
          <p:spPr>
            <a:xfrm>
              <a:off x="4384449" y="3093811"/>
              <a:ext cx="232227" cy="232227"/>
            </a:xfrm>
            <a:prstGeom prst="halfFrame">
              <a:avLst>
                <a:gd name="adj1" fmla="val 5860"/>
                <a:gd name="adj2" fmla="val 5860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32" name="PA_半闭框 7"/>
            <p:cNvSpPr/>
            <p:nvPr>
              <p:custDataLst>
                <p:tags r:id="rId7"/>
              </p:custDataLst>
            </p:nvPr>
          </p:nvSpPr>
          <p:spPr>
            <a:xfrm flipH="1" flipV="1">
              <a:off x="6441827" y="3913656"/>
              <a:ext cx="232227" cy="232227"/>
            </a:xfrm>
            <a:prstGeom prst="halfFrame">
              <a:avLst>
                <a:gd name="adj1" fmla="val 5860"/>
                <a:gd name="adj2" fmla="val 5860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8"/>
              </p:custDataLst>
            </p:nvPr>
          </p:nvSpPr>
          <p:spPr>
            <a:xfrm>
              <a:off x="4454483" y="3303989"/>
              <a:ext cx="2138344" cy="723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左手技法指法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21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（颤、上滑、下滑）</a:t>
              </a:r>
              <a:endParaRPr lang="zh-CN" altLang="en-US" sz="21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endParaRPr>
            </a:p>
          </p:txBody>
        </p: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579779"/>
            <a:ext cx="3897253" cy="2558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463" y="611188"/>
            <a:ext cx="3921125" cy="3921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67360" y="1059180"/>
            <a:ext cx="457200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z="13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选择合适的椅子（比筝首架低</a:t>
            </a:r>
            <a:r>
              <a:rPr lang="en-US" altLang="zh-CN" sz="13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10cm</a:t>
            </a:r>
            <a:r>
              <a:rPr lang="zh-CN" altLang="en-US" sz="13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最佳），座位和琴的高矮比例要合适，第一个琴码的高度与自己的腰部平行 。双腿自然弯曲，左脚稍前，右脚稍后放好。上身端正，后背挺直，坐凳子的前半部分，不要坐满整个凳子。</a:t>
            </a:r>
            <a:endParaRPr lang="zh-CN" altLang="en-US" sz="13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360" y="2787650"/>
            <a:ext cx="4572000" cy="714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r>
              <a:rPr lang="zh-CN" altLang="en-US" sz="13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身体离琴一拳的距离。两臂和双手松弛而自然抬起，精神饱满，面部表情放松。双手放松呈半握拳状弹琴。</a:t>
            </a:r>
            <a:endParaRPr lang="zh-CN" altLang="en-US" sz="13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915670"/>
            <a:ext cx="3315970" cy="3946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30" y="1059180"/>
            <a:ext cx="295275" cy="304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830" y="2283460"/>
            <a:ext cx="285750" cy="3048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8125" y="2646680"/>
            <a:ext cx="2420620" cy="24968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23665" y="843280"/>
            <a:ext cx="457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正确手势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r>
              <a:rPr lang="zh-CN" altLang="en-US">
                <a:solidFill>
                  <a:schemeClr val="bg1"/>
                </a:solidFill>
              </a:rPr>
              <a:t>手指自然弯曲呈半握拳状，虎口撑圆让手和手腕平悬。手臂与手背处于同一水平线的状态。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60065" y="235585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错误手势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r>
              <a:rPr lang="zh-CN" altLang="en-US">
                <a:solidFill>
                  <a:schemeClr val="bg1"/>
                </a:solidFill>
              </a:rPr>
              <a:t>手指关节太紧整个手没有放松。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63620" y="350774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错误手势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r>
              <a:rPr lang="zh-CN" altLang="en-US">
                <a:solidFill>
                  <a:schemeClr val="bg1"/>
                </a:solidFill>
              </a:rPr>
              <a:t>掌关节塌陷，手指过于用力。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内容占位符 2"/>
          <p:cNvSpPr>
            <a:spLocks noGrp="1"/>
          </p:cNvSpPr>
          <p:nvPr>
            <p:ph sz="half" idx="1"/>
          </p:nvPr>
        </p:nvSpPr>
        <p:spPr>
          <a:xfrm>
            <a:off x="611188" y="1389063"/>
            <a:ext cx="4951412" cy="2879725"/>
          </a:xfrm>
        </p:spPr>
        <p:txBody>
          <a:bodyPr vert="horz" wrap="square" lIns="91440" tIns="45720" rIns="91440" bIns="45720" anchor="t" anchorCtr="0"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</a:pPr>
            <a:r>
              <a:rPr lang="zh-CN" alt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标题取自唐代王勃《滕王阁序》中的名句</a:t>
            </a:r>
            <a:r>
              <a:rPr lang="en-US" altLang="zh-CN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"</a:t>
            </a:r>
            <a:r>
              <a:rPr lang="zh-CN" alt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渔舟唱晚，响穹彭蠡之滨</a:t>
            </a:r>
            <a:r>
              <a:rPr lang="en-US" altLang="zh-CN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;</a:t>
            </a:r>
            <a:r>
              <a:rPr lang="zh-CN" alt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雁阵惊寒，声断</a:t>
            </a:r>
            <a:endParaRPr lang="zh-CN" altLang="en-US" sz="20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</a:pPr>
            <a:r>
              <a:rPr lang="zh-CN" alt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衡阳之浦</a:t>
            </a:r>
            <a:r>
              <a:rPr lang="en-US" altLang="zh-CN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”</a:t>
            </a:r>
            <a:r>
              <a:rPr lang="zh-CN" alt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。乐曲描绘了晚霞辉映下渔人载歌而归的动人画面。</a:t>
            </a:r>
            <a:endParaRPr lang="zh-CN" altLang="en-US" sz="20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9" name="3"/>
          <p:cNvPicPr>
            <a:picLocks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52135" y="843915"/>
            <a:ext cx="2628265" cy="339471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971550" y="862330"/>
            <a:ext cx="3195638" cy="36036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zh-CN" altLang="en-US" b="1">
                <a:solidFill>
                  <a:srgbClr val="FFFFFF"/>
                </a:solidFill>
                <a:latin typeface="Segoe UI Semibold" panose="020B0702040204020203" charset="0"/>
                <a:ea typeface="Segoe UI Semibold" panose="020B0702040204020203" charset="0"/>
              </a:rPr>
              <a:t>古筝名曲</a:t>
            </a:r>
            <a:r>
              <a:rPr lang="en-US" altLang="zh-CN" b="1">
                <a:solidFill>
                  <a:srgbClr val="FFFFFF"/>
                </a:solidFill>
                <a:latin typeface="Segoe UI Semibold" panose="020B0702040204020203" charset="0"/>
                <a:ea typeface="Segoe UI Semibold" panose="020B0702040204020203" charset="0"/>
              </a:rPr>
              <a:t>—</a:t>
            </a:r>
            <a:r>
              <a:rPr lang="zh-CN" altLang="en-US" b="1">
                <a:solidFill>
                  <a:srgbClr val="FFFFFF"/>
                </a:solidFill>
                <a:latin typeface="Segoe UI Semibold" panose="020B0702040204020203" charset="0"/>
                <a:ea typeface="Segoe UI Semibold" panose="020B0702040204020203" charset="0"/>
              </a:rPr>
              <a:t>渔舟唱晚</a:t>
            </a:r>
            <a:endParaRPr lang="zh-CN" altLang="en-US" b="1">
              <a:solidFill>
                <a:srgbClr val="FFFFFF"/>
              </a:solidFill>
              <a:latin typeface="Segoe UI Semibold" panose="020B0702040204020203" charset="0"/>
              <a:ea typeface="Segoe UI Semibold" panose="020B07020402040202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wind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charRg st="0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69" name="图片 8"/>
          <p:cNvPicPr>
            <a:picLocks noChangeAspect="1"/>
          </p:cNvPicPr>
          <p:nvPr/>
        </p:nvPicPr>
        <p:blipFill>
          <a:blip r:embed="rId1"/>
          <a:srcRect l="920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0" name="文本框 6"/>
          <p:cNvSpPr txBox="1"/>
          <p:nvPr/>
        </p:nvSpPr>
        <p:spPr>
          <a:xfrm>
            <a:off x="1259840" y="915670"/>
            <a:ext cx="3743325" cy="36309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11500">
                <a:solidFill>
                  <a:srgbClr val="6A4609"/>
                </a:solidFill>
                <a:latin typeface="Consolas" panose="020B0609020204030204" charset="0"/>
                <a:ea typeface="Consolas" panose="020B0609020204030204" charset="0"/>
              </a:rPr>
              <a:t>谢谢观看</a:t>
            </a:r>
            <a:endParaRPr lang="zh-CN" altLang="en-US" sz="11500">
              <a:solidFill>
                <a:srgbClr val="6A4609"/>
              </a:solidFill>
              <a:latin typeface="Consolas" panose="020B0609020204030204" charset="0"/>
              <a:ea typeface="Consolas" panose="020B0609020204030204" charset="0"/>
            </a:endParaRPr>
          </a:p>
        </p:txBody>
      </p:sp>
      <p:sp>
        <p:nvSpPr>
          <p:cNvPr id="7171" name="文本框 9"/>
          <p:cNvSpPr txBox="1"/>
          <p:nvPr/>
        </p:nvSpPr>
        <p:spPr>
          <a:xfrm>
            <a:off x="468313" y="488950"/>
            <a:ext cx="28797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dist" eaLnBrk="1" hangingPunct="1"/>
            <a:r>
              <a:rPr lang="zh-CN" altLang="en-US" sz="1800">
                <a:solidFill>
                  <a:schemeClr val="bg1"/>
                </a:solidFill>
                <a:latin typeface="Arial" panose="020B0604020202020204" pitchFamily="34" charset="0"/>
              </a:rPr>
              <a:t>民族弦鸣乐器</a:t>
            </a:r>
            <a:endParaRPr lang="zh-CN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2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3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4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5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6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7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8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9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10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11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12.xml><?xml version="1.0" encoding="utf-8"?>
<p:tagLst xmlns:p="http://schemas.openxmlformats.org/presentationml/2006/main">
  <p:tag name="KSO_WM_DIAGRAM_VIRTUALLY_FRAME" val="{&quot;height&quot;:278.6027559055118,&quot;left&quot;:342.7892125984252,&quot;top&quot;:63.19866141732283,&quot;width&quot;:329.0858267716536}"/>
</p:tagLst>
</file>

<file path=ppt/tags/tag13.xml><?xml version="1.0" encoding="utf-8"?>
<p:tagLst xmlns:p="http://schemas.openxmlformats.org/presentationml/2006/main">
  <p:tag name="KSO_WM_DIAGRAM_VIRTUALLY_FRAME" val="{&quot;height&quot;:234.65826771653548,&quot;left&quot;:102,&quot;top&quot;:100.5,&quot;width&quot;:222}"/>
</p:tagLst>
</file>

<file path=ppt/tags/tag14.xml><?xml version="1.0" encoding="utf-8"?>
<p:tagLst xmlns:p="http://schemas.openxmlformats.org/presentationml/2006/main">
  <p:tag name="PA" val="v3.2.0"/>
  <p:tag name="KSO_WM_DIAGRAM_VIRTUALLY_FRAME" val="{&quot;height&quot;:234.65826771653548,&quot;left&quot;:102,&quot;top&quot;:100.5,&quot;width&quot;:222}"/>
</p:tagLst>
</file>

<file path=ppt/tags/tag15.xml><?xml version="1.0" encoding="utf-8"?>
<p:tagLst xmlns:p="http://schemas.openxmlformats.org/presentationml/2006/main">
  <p:tag name="PA" val="v3.2.0"/>
  <p:tag name="KSO_WM_DIAGRAM_VIRTUALLY_FRAME" val="{&quot;height&quot;:234.65826771653548,&quot;left&quot;:102,&quot;top&quot;:100.5,&quot;width&quot;:222}"/>
</p:tagLst>
</file>

<file path=ppt/tags/tag16.xml><?xml version="1.0" encoding="utf-8"?>
<p:tagLst xmlns:p="http://schemas.openxmlformats.org/presentationml/2006/main">
  <p:tag name="KSO_WM_DIAGRAM_VIRTUALLY_FRAME" val="{&quot;height&quot;:234.65826771653548,&quot;left&quot;:102,&quot;top&quot;:100.5,&quot;width&quot;:222}"/>
</p:tagLst>
</file>

<file path=ppt/tags/tag17.xml><?xml version="1.0" encoding="utf-8"?>
<p:tagLst xmlns:p="http://schemas.openxmlformats.org/presentationml/2006/main">
  <p:tag name="KSO_WM_DIAGRAM_VIRTUALLY_FRAME" val="{&quot;height&quot;:234.65826771653548,&quot;left&quot;:102,&quot;top&quot;:100.5,&quot;width&quot;:222}"/>
</p:tagLst>
</file>

<file path=ppt/tags/tag18.xml><?xml version="1.0" encoding="utf-8"?>
<p:tagLst xmlns:p="http://schemas.openxmlformats.org/presentationml/2006/main">
  <p:tag name="PA" val="v3.2.0"/>
  <p:tag name="KSO_WM_DIAGRAM_VIRTUALLY_FRAME" val="{&quot;height&quot;:234.65826771653548,&quot;left&quot;:102,&quot;top&quot;:100.5,&quot;width&quot;:222}"/>
</p:tagLst>
</file>

<file path=ppt/tags/tag19.xml><?xml version="1.0" encoding="utf-8"?>
<p:tagLst xmlns:p="http://schemas.openxmlformats.org/presentationml/2006/main">
  <p:tag name="PA" val="v3.2.0"/>
  <p:tag name="KSO_WM_DIAGRAM_VIRTUALLY_FRAME" val="{&quot;height&quot;:234.65826771653548,&quot;left&quot;:102,&quot;top&quot;:100.5,&quot;width&quot;:222}"/>
</p:tagLst>
</file>

<file path=ppt/tags/tag20.xml><?xml version="1.0" encoding="utf-8"?>
<p:tagLst xmlns:p="http://schemas.openxmlformats.org/presentationml/2006/main">
  <p:tag name="KSO_WM_DIAGRAM_VIRTUALLY_FRAME" val="{&quot;height&quot;:234.65826771653548,&quot;left&quot;:102,&quot;top&quot;:100.5,&quot;width&quot;:222}"/>
</p:tagLst>
</file>

<file path=ppt/tags/tag21.xml><?xml version="1.0" encoding="utf-8"?>
<p:tagLst xmlns:p="http://schemas.openxmlformats.org/presentationml/2006/main">
  <p:tag name="KSO_WPP_MARK_KEY" val="d6cb56dc-20e0-4456-8c35-6ea63d516c2f"/>
  <p:tag name="COMMONDATA" val="eyJoZGlkIjoiYjVjMzNjYTcyYTMzNjk1NDE1YjZlNDgwMzZhOGI4ND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小熊猫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0</TotalTime>
  <Words>1057</Words>
  <Application>WPS 演示</Application>
  <PresentationFormat/>
  <Paragraphs>131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1" baseType="lpstr">
      <vt:lpstr>Arial</vt:lpstr>
      <vt:lpstr>宋体</vt:lpstr>
      <vt:lpstr>Wingdings</vt:lpstr>
      <vt:lpstr>Goudy Old Style</vt:lpstr>
      <vt:lpstr>PMingLiU-ExtB</vt:lpstr>
      <vt:lpstr>华文新魏</vt:lpstr>
      <vt:lpstr>Footlight MT Light</vt:lpstr>
      <vt:lpstr>Segoe Print</vt:lpstr>
      <vt:lpstr>Wingdings 2</vt:lpstr>
      <vt:lpstr>Wingdings</vt:lpstr>
      <vt:lpstr>Arial</vt:lpstr>
      <vt:lpstr>华文楷体</vt:lpstr>
      <vt:lpstr>微软雅黑</vt:lpstr>
      <vt:lpstr>Consolas</vt:lpstr>
      <vt:lpstr>Impact MT Std</vt:lpstr>
      <vt:lpstr>汉仪新蒂语文体</vt:lpstr>
      <vt:lpstr>迷你简雪君</vt:lpstr>
      <vt:lpstr>华文行楷</vt:lpstr>
      <vt:lpstr>Calibri</vt:lpstr>
      <vt:lpstr>方正清刻本悦宋简体</vt:lpstr>
      <vt:lpstr>Wingdings 2</vt:lpstr>
      <vt:lpstr>Segoe UI Semibold</vt:lpstr>
      <vt:lpstr>Arial Unicode MS</vt:lpstr>
      <vt:lpstr>小熊猫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小Q</cp:lastModifiedBy>
  <cp:revision>51</cp:revision>
  <dcterms:created xsi:type="dcterms:W3CDTF">2016-12-12T01:57:00Z</dcterms:created>
  <dcterms:modified xsi:type="dcterms:W3CDTF">2026-05-27T05:53:50Z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E3982747688E4ACD9B1F6A909164538E_13</vt:lpwstr>
  </property>
  <property fmtid="{D5CDD505-2E9C-101B-9397-08002B2CF9AE}" pid="3" name="KSOProductBuildVer">
    <vt:lpwstr>2052-12.1.0.25225</vt:lpwstr>
  </property>
</Properties>
</file>